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18"/>
    <p:sldId id="266" r:id="rId17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8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adoring-confident-faraday/mnt/outputs/work/navy_bg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047924" cy="82296"/>
          </a:xfrm>
          <a:prstGeom prst="rect">
            <a:avLst/>
          </a:prstGeom>
          <a:solidFill>
            <a:srgbClr val="CD1012"/>
          </a:solidFill>
          <a:ln/>
        </p:spPr>
      </p:sp>
      <p:sp>
        <p:nvSpPr>
          <p:cNvPr id="4" name="Shape 1"/>
          <p:cNvSpPr/>
          <p:nvPr/>
        </p:nvSpPr>
        <p:spPr>
          <a:xfrm>
            <a:off x="3047924" y="0"/>
            <a:ext cx="3047924" cy="82296"/>
          </a:xfrm>
          <a:prstGeom prst="rect">
            <a:avLst/>
          </a:prstGeom>
          <a:solidFill>
            <a:srgbClr val="FABA00"/>
          </a:solidFill>
          <a:ln/>
        </p:spPr>
      </p:sp>
      <p:sp>
        <p:nvSpPr>
          <p:cNvPr id="5" name="Shape 2"/>
          <p:cNvSpPr/>
          <p:nvPr/>
        </p:nvSpPr>
        <p:spPr>
          <a:xfrm>
            <a:off x="6095848" y="0"/>
            <a:ext cx="3047924" cy="82296"/>
          </a:xfrm>
          <a:prstGeom prst="rect">
            <a:avLst/>
          </a:prstGeom>
          <a:solidFill>
            <a:srgbClr val="5CB74D"/>
          </a:solidFill>
          <a:ln/>
        </p:spPr>
      </p:sp>
      <p:sp>
        <p:nvSpPr>
          <p:cNvPr id="6" name="Shape 3"/>
          <p:cNvSpPr/>
          <p:nvPr/>
        </p:nvSpPr>
        <p:spPr>
          <a:xfrm>
            <a:off x="9143771" y="0"/>
            <a:ext cx="3047924" cy="82296"/>
          </a:xfrm>
          <a:prstGeom prst="rect">
            <a:avLst/>
          </a:prstGeom>
          <a:solidFill>
            <a:srgbClr val="17A7DA"/>
          </a:solidFill>
          <a:ln/>
        </p:spPr>
      </p:sp>
      <p:pic>
        <p:nvPicPr>
          <p:cNvPr id="7" name="Image 1" descr="/sessions/adoring-confident-faraday/mnt/outputs/work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201168"/>
            <a:ext cx="1188720" cy="30676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1417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A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DAY  ·  INTERNAL SHOWCASE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173736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</a:t>
            </a:r>
            <a:pPr indent="0" marL="0">
              <a:buNone/>
            </a:pPr>
            <a:r>
              <a:rPr lang="en-US" sz="9600" b="1" dirty="0">
                <a:solidFill>
                  <a:srgbClr val="CD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32461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London commute, reasoned about — not just routed.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checks TfL live, then tells you the truth in one line.</a:t>
            </a:r>
            <a:endParaRPr lang="en-US" sz="1800" dirty="0"/>
          </a:p>
        </p:txBody>
      </p:sp>
      <p:pic>
        <p:nvPicPr>
          <p:cNvPr id="11" name="Image 2" descr="/sessions/adoring-confident-faraday/mnt/outputs/work/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895" y="3676773"/>
            <a:ext cx="3291840" cy="849507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40080" y="6199632"/>
            <a:ext cx="10911535" cy="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40080" y="6309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Caleb Lim  ·  2026-09-23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82296"/>
          </a:xfrm>
          <a:prstGeom prst="rect">
            <a:avLst/>
          </a:prstGeom>
          <a:solidFill>
            <a:srgbClr val="CD1012"/>
          </a:solidFill>
          <a:ln/>
        </p:spPr>
      </p:sp>
      <p:sp>
        <p:nvSpPr>
          <p:cNvPr id="3" name="Shape 1"/>
          <p:cNvSpPr/>
          <p:nvPr/>
        </p:nvSpPr>
        <p:spPr>
          <a:xfrm>
            <a:off x="3047924" y="0"/>
            <a:ext cx="3047924" cy="82296"/>
          </a:xfrm>
          <a:prstGeom prst="rect">
            <a:avLst/>
          </a:prstGeom>
          <a:solidFill>
            <a:srgbClr val="FABA00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0"/>
            <a:ext cx="3047924" cy="82296"/>
          </a:xfrm>
          <a:prstGeom prst="rect">
            <a:avLst/>
          </a:prstGeom>
          <a:solidFill>
            <a:srgbClr val="5CB74D"/>
          </a:solidFill>
          <a:ln/>
        </p:spPr>
      </p:sp>
      <p:sp>
        <p:nvSpPr>
          <p:cNvPr id="5" name="Shape 3"/>
          <p:cNvSpPr/>
          <p:nvPr/>
        </p:nvSpPr>
        <p:spPr>
          <a:xfrm>
            <a:off x="9143771" y="0"/>
            <a:ext cx="3047924" cy="82296"/>
          </a:xfrm>
          <a:prstGeom prst="rect">
            <a:avLst/>
          </a:prstGeom>
          <a:solidFill>
            <a:srgbClr val="17A7DA"/>
          </a:solidFill>
          <a:ln/>
        </p:spPr>
      </p:sp>
      <p:pic>
        <p:nvPicPr>
          <p:cNvPr id="6" name="Image 0" descr="/sessions/adoring-confident-faraday/mnt/outputs/work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5775" y="201168"/>
            <a:ext cx="1188720" cy="3067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731520"/>
            <a:ext cx="91440" cy="91440"/>
          </a:xfrm>
          <a:prstGeom prst="rect">
            <a:avLst/>
          </a:prstGeom>
          <a:solidFill>
            <a:srgbClr val="17A7D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685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9144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Reroute?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6309360" cy="960120"/>
          </a:xfrm>
          <a:prstGeom prst="roundRect">
            <a:avLst>
              <a:gd name="adj" fmla="val 8571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" y="19431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CD1012">
              <a:alpha val="16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9224" y="194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D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71016" y="1773936"/>
            <a:ext cx="53949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
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usual Tube route might be disrupted right now, and checking line status yourself takes several taps.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02920" y="2816352"/>
            <a:ext cx="6309360" cy="1234440"/>
          </a:xfrm>
          <a:prstGeom prst="roundRect">
            <a:avLst>
              <a:gd name="adj" fmla="val 6667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9224" y="320497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ABA00">
              <a:alpha val="16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9224" y="32049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271016" y="2898648"/>
            <a:ext cx="53949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
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+ Hono backend calls the TfL Unified API for live journeys, crowding and line status, then hands that data to a Claude agent (via Bedrock) that returns a plain-English verdict.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02920" y="4215384"/>
            <a:ext cx="6309360" cy="1051560"/>
          </a:xfrm>
          <a:prstGeom prst="roundRect">
            <a:avLst>
              <a:gd name="adj" fmla="val 7826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9224" y="4512564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5CB74D">
              <a:alpha val="16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9224" y="45125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271016" y="4297680"/>
            <a:ext cx="5394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
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usual route still holds” or “Take this route instead” — with the live journey, timing, and confidence shown.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086600" y="1691640"/>
            <a:ext cx="4526280" cy="4434840"/>
          </a:xfrm>
          <a:prstGeom prst="roundRect">
            <a:avLst>
              <a:gd name="adj" fmla="val 2887"/>
            </a:avLst>
          </a:prstGeom>
          <a:solidFill>
            <a:srgbClr val="0D253A"/>
          </a:solidFill>
          <a:ln/>
        </p:spPr>
      </p:sp>
      <p:sp>
        <p:nvSpPr>
          <p:cNvPr id="23" name="Shape 20"/>
          <p:cNvSpPr/>
          <p:nvPr/>
        </p:nvSpPr>
        <p:spPr>
          <a:xfrm>
            <a:off x="8906256" y="1737360"/>
            <a:ext cx="2660904" cy="2660904"/>
          </a:xfrm>
          <a:prstGeom prst="ellipse">
            <a:avLst/>
          </a:prstGeom>
          <a:solidFill>
            <a:srgbClr val="17A7DA">
              <a:alpha val="13000"/>
            </a:srgbClr>
          </a:solidFill>
          <a:ln/>
        </p:spPr>
      </p:sp>
      <p:pic>
        <p:nvPicPr>
          <p:cNvPr id="24" name="Image 1" descr="/sessions/adoring-confident-faraday/mnt/outputs/work/img_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920240"/>
            <a:ext cx="4160520" cy="1875536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269480" y="4024376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app — plan a journey, get a live, plain-English verdict.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82296"/>
          </a:xfrm>
          <a:prstGeom prst="rect">
            <a:avLst/>
          </a:prstGeom>
          <a:solidFill>
            <a:srgbClr val="CD1012"/>
          </a:solidFill>
          <a:ln/>
        </p:spPr>
      </p:sp>
      <p:sp>
        <p:nvSpPr>
          <p:cNvPr id="3" name="Shape 1"/>
          <p:cNvSpPr/>
          <p:nvPr/>
        </p:nvSpPr>
        <p:spPr>
          <a:xfrm>
            <a:off x="3047924" y="0"/>
            <a:ext cx="3047924" cy="82296"/>
          </a:xfrm>
          <a:prstGeom prst="rect">
            <a:avLst/>
          </a:prstGeom>
          <a:solidFill>
            <a:srgbClr val="FABA00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0"/>
            <a:ext cx="3047924" cy="82296"/>
          </a:xfrm>
          <a:prstGeom prst="rect">
            <a:avLst/>
          </a:prstGeom>
          <a:solidFill>
            <a:srgbClr val="5CB74D"/>
          </a:solidFill>
          <a:ln/>
        </p:spPr>
      </p:sp>
      <p:sp>
        <p:nvSpPr>
          <p:cNvPr id="5" name="Shape 3"/>
          <p:cNvSpPr/>
          <p:nvPr/>
        </p:nvSpPr>
        <p:spPr>
          <a:xfrm>
            <a:off x="9143771" y="0"/>
            <a:ext cx="3047924" cy="82296"/>
          </a:xfrm>
          <a:prstGeom prst="rect">
            <a:avLst/>
          </a:prstGeom>
          <a:solidFill>
            <a:srgbClr val="17A7DA"/>
          </a:solidFill>
          <a:ln/>
        </p:spPr>
      </p:sp>
      <p:pic>
        <p:nvPicPr>
          <p:cNvPr id="6" name="Image 0" descr="/sessions/adoring-confident-faraday/mnt/outputs/work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5775" y="201168"/>
            <a:ext cx="1188720" cy="3067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731520"/>
            <a:ext cx="91440" cy="91440"/>
          </a:xfrm>
          <a:prstGeom prst="rect">
            <a:avLst/>
          </a:prstGeom>
          <a:solidFill>
            <a:srgbClr val="5CB74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685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evolved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21208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checkpoints, ~09:00–13:00 today — reconstructed from git history.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1965960"/>
            <a:ext cx="3675888" cy="1920240"/>
          </a:xfrm>
          <a:prstGeom prst="roundRect">
            <a:avLst>
              <a:gd name="adj" fmla="val 4762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" y="2167128"/>
            <a:ext cx="411480" cy="411480"/>
          </a:xfrm>
          <a:prstGeom prst="ellipse">
            <a:avLst/>
          </a:prstGeom>
          <a:solidFill>
            <a:srgbClr val="CD101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49808" y="2167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298448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10:41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2743200"/>
            <a:ext cx="3273552" cy="118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 tools + Agent SDK verdict</a:t>
            </a:r>
            <a:endParaRPr lang="en-US" sz="1350" dirty="0"/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7A7DA"/>
                </a:solidFill>
                <a:latin typeface="Calibri"/>
              </a:rPr>
              <a:t>$2.11 · 10.7M tokens</a:t>
            </a:r>
          </a:p>
        </p:txBody>
      </p:sp>
      <p:sp>
        <p:nvSpPr>
          <p:cNvPr id="16" name="Shape 13"/>
          <p:cNvSpPr/>
          <p:nvPr/>
        </p:nvSpPr>
        <p:spPr>
          <a:xfrm>
            <a:off x="4361688" y="1965960"/>
            <a:ext cx="3675888" cy="1920240"/>
          </a:xfrm>
          <a:prstGeom prst="roundRect">
            <a:avLst>
              <a:gd name="adj" fmla="val 4762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62856" y="2167128"/>
            <a:ext cx="411480" cy="411480"/>
          </a:xfrm>
          <a:prstGeom prst="ellipse">
            <a:avLst/>
          </a:prstGeom>
          <a:solidFill>
            <a:srgbClr val="FABA0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562856" y="2167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111496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10:51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4562856" y="2743200"/>
            <a:ext cx="3273552" cy="118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 &amp; saved stations</a:t>
            </a:r>
            <a:endParaRPr lang="en-US" sz="1350" dirty="0"/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7A7DA"/>
                </a:solidFill>
                <a:latin typeface="Calibri"/>
              </a:rPr>
              <a:t>$0.55 · 2.2M tokens</a:t>
            </a:r>
          </a:p>
        </p:txBody>
      </p:sp>
      <p:sp>
        <p:nvSpPr>
          <p:cNvPr id="21" name="Shape 18"/>
          <p:cNvSpPr/>
          <p:nvPr/>
        </p:nvSpPr>
        <p:spPr>
          <a:xfrm>
            <a:off x="8174736" y="1965960"/>
            <a:ext cx="3675888" cy="1920240"/>
          </a:xfrm>
          <a:prstGeom prst="roundRect">
            <a:avLst>
              <a:gd name="adj" fmla="val 4762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375904" y="2167128"/>
            <a:ext cx="411480" cy="411480"/>
          </a:xfrm>
          <a:prstGeom prst="ellipse">
            <a:avLst/>
          </a:prstGeom>
          <a:solidFill>
            <a:srgbClr val="5CB74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375904" y="2167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8924544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11:16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8375904" y="2743200"/>
            <a:ext cx="3273552" cy="118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TfL tooling</a:t>
            </a:r>
            <a:endParaRPr lang="en-US" sz="1350" dirty="0"/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7A7DA"/>
                </a:solidFill>
                <a:latin typeface="Calibri"/>
              </a:rPr>
              <a:t>$2.64 · 15.5M tokens</a:t>
            </a:r>
          </a:p>
        </p:txBody>
      </p:sp>
      <p:sp>
        <p:nvSpPr>
          <p:cNvPr id="26" name="Shape 23"/>
          <p:cNvSpPr/>
          <p:nvPr/>
        </p:nvSpPr>
        <p:spPr>
          <a:xfrm>
            <a:off x="548640" y="4114800"/>
            <a:ext cx="3675888" cy="1920240"/>
          </a:xfrm>
          <a:prstGeom prst="roundRect">
            <a:avLst>
              <a:gd name="adj" fmla="val 4762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49808" y="4315968"/>
            <a:ext cx="411480" cy="411480"/>
          </a:xfrm>
          <a:prstGeom prst="ellipse">
            <a:avLst/>
          </a:prstGeom>
          <a:solidFill>
            <a:srgbClr val="17A7D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49808" y="4315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298448" y="4297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11:43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4892040"/>
            <a:ext cx="3273552" cy="118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pass</a:t>
            </a:r>
            <a:endParaRPr lang="en-US" sz="1350" dirty="0"/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7A7DA"/>
                </a:solidFill>
                <a:latin typeface="Calibri"/>
              </a:rPr>
              <a:t>$4.45 · 21.8M tokens</a:t>
            </a:r>
          </a:p>
        </p:txBody>
      </p:sp>
      <p:sp>
        <p:nvSpPr>
          <p:cNvPr id="31" name="Shape 28"/>
          <p:cNvSpPr/>
          <p:nvPr/>
        </p:nvSpPr>
        <p:spPr>
          <a:xfrm>
            <a:off x="4361688" y="4114800"/>
            <a:ext cx="3675888" cy="1920240"/>
          </a:xfrm>
          <a:prstGeom prst="roundRect">
            <a:avLst>
              <a:gd name="adj" fmla="val 4762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62856" y="4315968"/>
            <a:ext cx="411480" cy="411480"/>
          </a:xfrm>
          <a:prstGeom prst="ellipse">
            <a:avLst/>
          </a:prstGeom>
          <a:solidFill>
            <a:srgbClr val="CD101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562856" y="4315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5111496" y="4297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12:07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4562856" y="4892040"/>
            <a:ext cx="3273552" cy="118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+ polish</a:t>
            </a:r>
            <a:endParaRPr lang="en-US" sz="1350" dirty="0"/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7A7DA"/>
                </a:solidFill>
                <a:latin typeface="Calibri"/>
              </a:rPr>
              <a:t>$2.45 · 15.9M tokens</a:t>
            </a:r>
          </a:p>
        </p:txBody>
      </p:sp>
      <p:sp>
        <p:nvSpPr>
          <p:cNvPr id="36" name="Shape 33"/>
          <p:cNvSpPr/>
          <p:nvPr/>
        </p:nvSpPr>
        <p:spPr>
          <a:xfrm>
            <a:off x="8174736" y="4114800"/>
            <a:ext cx="3675888" cy="1920240"/>
          </a:xfrm>
          <a:prstGeom prst="roundRect">
            <a:avLst>
              <a:gd name="adj" fmla="val 4762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375904" y="4315968"/>
            <a:ext cx="411480" cy="411480"/>
          </a:xfrm>
          <a:prstGeom prst="ellipse">
            <a:avLst/>
          </a:prstGeom>
          <a:solidFill>
            <a:srgbClr val="FABA00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375904" y="4315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8924544" y="4297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</a:t>
            </a:r>
            <a:endParaRPr lang="en-US" sz="2000" dirty="0"/>
          </a:p>
        </p:txBody>
      </p:sp>
      <p:sp>
        <p:nvSpPr>
          <p:cNvPr id="40" name="Text 37"/>
          <p:cNvSpPr txBox="1"/>
          <p:nvPr/>
        </p:nvSpPr>
        <p:spPr>
          <a:xfrm>
            <a:off x="8375904" y="4892040"/>
            <a:ext cx="3273552" cy="118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 pass</a:t>
            </a:r>
            <a:endParaRPr lang="en-US" sz="1350" dirty="0"/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7A7DA"/>
                </a:solidFill>
                <a:latin typeface="Calibri"/>
              </a:rPr>
              <a:t>$0.67 · 3.2M tokens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82296"/>
          </a:xfrm>
          <a:prstGeom prst="rect">
            <a:avLst/>
          </a:prstGeom>
          <a:solidFill>
            <a:srgbClr val="CD1012"/>
          </a:solidFill>
          <a:ln/>
        </p:spPr>
      </p:sp>
      <p:sp>
        <p:nvSpPr>
          <p:cNvPr id="3" name="Shape 1"/>
          <p:cNvSpPr/>
          <p:nvPr/>
        </p:nvSpPr>
        <p:spPr>
          <a:xfrm>
            <a:off x="3047924" y="0"/>
            <a:ext cx="3047924" cy="82296"/>
          </a:xfrm>
          <a:prstGeom prst="rect">
            <a:avLst/>
          </a:prstGeom>
          <a:solidFill>
            <a:srgbClr val="FABA00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0"/>
            <a:ext cx="3047924" cy="82296"/>
          </a:xfrm>
          <a:prstGeom prst="rect">
            <a:avLst/>
          </a:prstGeom>
          <a:solidFill>
            <a:srgbClr val="5CB74D"/>
          </a:solidFill>
          <a:ln/>
        </p:spPr>
      </p:sp>
      <p:sp>
        <p:nvSpPr>
          <p:cNvPr id="5" name="Shape 3"/>
          <p:cNvSpPr/>
          <p:nvPr/>
        </p:nvSpPr>
        <p:spPr>
          <a:xfrm>
            <a:off x="9143771" y="0"/>
            <a:ext cx="3047924" cy="82296"/>
          </a:xfrm>
          <a:prstGeom prst="rect">
            <a:avLst/>
          </a:prstGeom>
          <a:solidFill>
            <a:srgbClr val="17A7DA"/>
          </a:solidFill>
          <a:ln/>
        </p:spPr>
      </p:sp>
      <p:pic>
        <p:nvPicPr>
          <p:cNvPr id="6" name="Image 0" descr="/sessions/adoring-confident-faraday/mnt/outputs/work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5775" y="201168"/>
            <a:ext cx="1188720" cy="3067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731520"/>
            <a:ext cx="91440" cy="91440"/>
          </a:xfrm>
          <a:prstGeom prst="rect">
            <a:avLst/>
          </a:prstGeom>
          <a:solidFill>
            <a:srgbClr val="CD101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685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914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Rerouting, live departures &amp; alternatives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21208" y="1417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the verdict card always carries alongside the plain-English line.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1874520"/>
            <a:ext cx="5440680" cy="2331720"/>
          </a:xfrm>
          <a:prstGeom prst="roundRect">
            <a:avLst>
              <a:gd name="adj" fmla="val 4000"/>
            </a:avLst>
          </a:prstGeom>
          <a:solidFill>
            <a:srgbClr val="0D253A"/>
          </a:solidFill>
          <a:ln/>
        </p:spPr>
      </p:sp>
      <p:sp>
        <p:nvSpPr>
          <p:cNvPr id="12" name="Shape 9"/>
          <p:cNvSpPr/>
          <p:nvPr/>
        </p:nvSpPr>
        <p:spPr>
          <a:xfrm>
            <a:off x="4544568" y="1920240"/>
            <a:ext cx="1399032" cy="1399032"/>
          </a:xfrm>
          <a:prstGeom prst="ellipse">
            <a:avLst/>
          </a:prstGeom>
          <a:solidFill>
            <a:srgbClr val="17A7DA">
              <a:alpha val="13000"/>
            </a:srgbClr>
          </a:solidFill>
          <a:ln/>
        </p:spPr>
      </p:sp>
      <p:pic>
        <p:nvPicPr>
          <p:cNvPr id="13" name="Image 1" descr="/sessions/adoring-confident-faraday/mnt/outputs/work/img_re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151" y="2011680"/>
            <a:ext cx="2689658" cy="17830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77240" y="386791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Rerouting: live journey swap-in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50292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7A7DA">
              <a:alpha val="16000"/>
            </a:srgbClr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94944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A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316736" y="4471416"/>
            <a:ext cx="45262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Rerouting
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sets recommended_live_option, the page swaps in that live TfL journey — a real alternative, not a guess.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309360" y="1874520"/>
            <a:ext cx="5440680" cy="2331720"/>
          </a:xfrm>
          <a:prstGeom prst="roundRect">
            <a:avLst>
              <a:gd name="adj" fmla="val 4000"/>
            </a:avLst>
          </a:prstGeom>
          <a:solidFill>
            <a:srgbClr val="0D253A"/>
          </a:solidFill>
          <a:ln/>
        </p:spPr>
      </p:sp>
      <p:sp>
        <p:nvSpPr>
          <p:cNvPr id="20" name="Shape 16"/>
          <p:cNvSpPr/>
          <p:nvPr/>
        </p:nvSpPr>
        <p:spPr>
          <a:xfrm>
            <a:off x="10305288" y="1920240"/>
            <a:ext cx="1399032" cy="1399032"/>
          </a:xfrm>
          <a:prstGeom prst="ellipse">
            <a:avLst/>
          </a:prstGeom>
          <a:solidFill>
            <a:srgbClr val="17A7DA">
              <a:alpha val="13000"/>
            </a:srgbClr>
          </a:solidFill>
          <a:ln/>
        </p:spPr>
      </p:sp>
      <p:pic>
        <p:nvPicPr>
          <p:cNvPr id="21" name="Image 2" descr="/sessions/adoring-confident-faraday/mnt/outputs/work/img_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576" y="2011680"/>
            <a:ext cx="3144248" cy="17830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37960" y="386791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Alternatives: tube-only &amp; bus-only options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309360" y="438912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55664" y="50292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5CB74D">
              <a:alpha val="16000"/>
            </a:srgbClr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455664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7077456" y="4471416"/>
            <a:ext cx="45262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
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also carries tube-only and bus-only options, priced and timed against the recommended route, each expandable to its own stop-by-stop itinerary.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82296"/>
          </a:xfrm>
          <a:prstGeom prst="rect">
            <a:avLst/>
          </a:prstGeom>
          <a:solidFill>
            <a:srgbClr val="CD1012"/>
          </a:solidFill>
          <a:ln/>
        </p:spPr>
      </p:sp>
      <p:sp>
        <p:nvSpPr>
          <p:cNvPr id="3" name="Shape 1"/>
          <p:cNvSpPr/>
          <p:nvPr/>
        </p:nvSpPr>
        <p:spPr>
          <a:xfrm>
            <a:off x="3047924" y="0"/>
            <a:ext cx="3047924" cy="82296"/>
          </a:xfrm>
          <a:prstGeom prst="rect">
            <a:avLst/>
          </a:prstGeom>
          <a:solidFill>
            <a:srgbClr val="FABA00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0"/>
            <a:ext cx="3047924" cy="82296"/>
          </a:xfrm>
          <a:prstGeom prst="rect">
            <a:avLst/>
          </a:prstGeom>
          <a:solidFill>
            <a:srgbClr val="5CB74D"/>
          </a:solidFill>
          <a:ln/>
        </p:spPr>
      </p:sp>
      <p:sp>
        <p:nvSpPr>
          <p:cNvPr id="5" name="Shape 3"/>
          <p:cNvSpPr/>
          <p:nvPr/>
        </p:nvSpPr>
        <p:spPr>
          <a:xfrm>
            <a:off x="9143771" y="0"/>
            <a:ext cx="3047924" cy="82296"/>
          </a:xfrm>
          <a:prstGeom prst="rect">
            <a:avLst/>
          </a:prstGeom>
          <a:solidFill>
            <a:srgbClr val="17A7DA"/>
          </a:solidFill>
          <a:ln/>
        </p:spPr>
      </p:sp>
      <p:pic>
        <p:nvPicPr>
          <p:cNvPr id="6" name="Image 0" descr="/sessions/adoring-confident-faraday/mnt/outputs/work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5775" y="201168"/>
            <a:ext cx="1188720" cy="3067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731520"/>
            <a:ext cx="91440" cy="91440"/>
          </a:xfrm>
          <a:prstGeom prst="rect">
            <a:avLst/>
          </a:prstGeom>
          <a:solidFill>
            <a:srgbClr val="FABA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685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test: real TfL data is noisy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1600200"/>
            <a:ext cx="11094415" cy="4892040"/>
          </a:xfrm>
          <a:prstGeom prst="roundRect">
            <a:avLst>
              <a:gd name="adj" fmla="val 2617"/>
            </a:avLst>
          </a:prstGeom>
          <a:solidFill>
            <a:srgbClr val="0D253A"/>
          </a:solidFill>
          <a:ln/>
        </p:spPr>
      </p:sp>
      <p:sp>
        <p:nvSpPr>
          <p:cNvPr id="11" name="Shape 8"/>
          <p:cNvSpPr/>
          <p:nvPr/>
        </p:nvSpPr>
        <p:spPr>
          <a:xfrm>
            <a:off x="8662111" y="1645920"/>
            <a:ext cx="2935224" cy="2935224"/>
          </a:xfrm>
          <a:prstGeom prst="ellipse">
            <a:avLst/>
          </a:prstGeom>
          <a:solidFill>
            <a:srgbClr val="17A7DA">
              <a:alpha val="13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68680" y="1920240"/>
            <a:ext cx="128016" cy="128016"/>
          </a:xfrm>
          <a:prstGeom prst="ellipse">
            <a:avLst/>
          </a:prstGeom>
          <a:solidFill>
            <a:srgbClr val="FABA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97280" y="1856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2167128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reasons over live TfL data — which means it can't be relied on to reproduce a demo exactly.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301752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3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Hammersmith → Liverpool Street query run against every checkpoint, live, against whatever TfL's network was actually doing at that moment.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3840480"/>
            <a:ext cx="1045433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showed: 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3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Hammersmith &amp; City line was genuinely running Minor Delays all session — but TfL's own journey planner quietly routes around it, and the agent doesn't always pick the same alternative twice. One run recommended the Circle line as a detour; another found the usual route was already Circle, so nothing needed to change.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521208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that matters: 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3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real evidence the agent is reasoning over live data rather than following a script — but it also means a live disruption can't be relied on to reliably reproduce for a demo.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612648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3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motivation for demo mode, on the next slide.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82296"/>
          </a:xfrm>
          <a:prstGeom prst="rect">
            <a:avLst/>
          </a:prstGeom>
          <a:solidFill>
            <a:srgbClr val="CD1012"/>
          </a:solidFill>
          <a:ln/>
        </p:spPr>
      </p:sp>
      <p:sp>
        <p:nvSpPr>
          <p:cNvPr id="3" name="Shape 1"/>
          <p:cNvSpPr/>
          <p:nvPr/>
        </p:nvSpPr>
        <p:spPr>
          <a:xfrm>
            <a:off x="3047924" y="0"/>
            <a:ext cx="3047924" cy="82296"/>
          </a:xfrm>
          <a:prstGeom prst="rect">
            <a:avLst/>
          </a:prstGeom>
          <a:solidFill>
            <a:srgbClr val="FABA00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0"/>
            <a:ext cx="3047924" cy="82296"/>
          </a:xfrm>
          <a:prstGeom prst="rect">
            <a:avLst/>
          </a:prstGeom>
          <a:solidFill>
            <a:srgbClr val="5CB74D"/>
          </a:solidFill>
          <a:ln/>
        </p:spPr>
      </p:sp>
      <p:sp>
        <p:nvSpPr>
          <p:cNvPr id="5" name="Shape 3"/>
          <p:cNvSpPr/>
          <p:nvPr/>
        </p:nvSpPr>
        <p:spPr>
          <a:xfrm>
            <a:off x="9143771" y="0"/>
            <a:ext cx="3047924" cy="82296"/>
          </a:xfrm>
          <a:prstGeom prst="rect">
            <a:avLst/>
          </a:prstGeom>
          <a:solidFill>
            <a:srgbClr val="17A7DA"/>
          </a:solidFill>
          <a:ln/>
        </p:spPr>
      </p:sp>
      <p:pic>
        <p:nvPicPr>
          <p:cNvPr id="6" name="Image 0" descr="/sessions/adoring-confident-faraday/mnt/outputs/work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5775" y="201168"/>
            <a:ext cx="1188720" cy="3067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731520"/>
            <a:ext cx="91440" cy="91440"/>
          </a:xfrm>
          <a:prstGeom prst="rect">
            <a:avLst/>
          </a:prstGeom>
          <a:solidFill>
            <a:srgbClr val="5CB74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685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Demo mode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21208" y="1417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 panel (profile menu → Demo mode) that injects a synthetic disruption so a live demo doesn't depend on TfL actually having a bad day.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2103120"/>
            <a:ext cx="3246120" cy="2331720"/>
          </a:xfrm>
          <a:prstGeom prst="roundRect">
            <a:avLst>
              <a:gd name="adj" fmla="val 4000"/>
            </a:avLst>
          </a:prstGeom>
          <a:solidFill>
            <a:srgbClr val="0D253A"/>
          </a:solidFill>
          <a:ln/>
        </p:spPr>
      </p:sp>
      <p:sp>
        <p:nvSpPr>
          <p:cNvPr id="12" name="Shape 9"/>
          <p:cNvSpPr/>
          <p:nvPr/>
        </p:nvSpPr>
        <p:spPr>
          <a:xfrm>
            <a:off x="2350008" y="2148840"/>
            <a:ext cx="1399032" cy="1399032"/>
          </a:xfrm>
          <a:prstGeom prst="ellipse">
            <a:avLst/>
          </a:prstGeom>
          <a:solidFill>
            <a:srgbClr val="17A7DA">
              <a:alpha val="13000"/>
            </a:srgbClr>
          </a:solidFill>
          <a:ln/>
        </p:spPr>
      </p:sp>
      <p:pic>
        <p:nvPicPr>
          <p:cNvPr id="13" name="Image 1" descr="/sessions/adoring-confident-faraday/mnt/outputs/work/img_demo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995" y="2240280"/>
            <a:ext cx="2333410" cy="16459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1520" y="405079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picker, under the profile avatar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069080" y="2103120"/>
            <a:ext cx="3246120" cy="2331720"/>
          </a:xfrm>
          <a:prstGeom prst="roundRect">
            <a:avLst>
              <a:gd name="adj" fmla="val 4000"/>
            </a:avLst>
          </a:prstGeom>
          <a:solidFill>
            <a:srgbClr val="0D253A"/>
          </a:solidFill>
          <a:ln/>
        </p:spPr>
      </p:sp>
      <p:sp>
        <p:nvSpPr>
          <p:cNvPr id="16" name="Shape 12"/>
          <p:cNvSpPr/>
          <p:nvPr/>
        </p:nvSpPr>
        <p:spPr>
          <a:xfrm>
            <a:off x="5870448" y="2148840"/>
            <a:ext cx="1399032" cy="1399032"/>
          </a:xfrm>
          <a:prstGeom prst="ellipse">
            <a:avLst/>
          </a:prstGeom>
          <a:solidFill>
            <a:srgbClr val="17A7DA">
              <a:alpha val="13000"/>
            </a:srgbClr>
          </a:solidFill>
          <a:ln/>
        </p:spPr>
      </p:sp>
      <p:pic>
        <p:nvPicPr>
          <p:cNvPr id="17" name="Image 2" descr="/sessions/adoring-confident-faraday/mnt/outputs/work/img_demo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337" y="2240280"/>
            <a:ext cx="2307606" cy="16459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251960" y="405079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verdict: Central line, Severe Delays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589520" y="2103120"/>
            <a:ext cx="4053535" cy="1074420"/>
          </a:xfrm>
          <a:prstGeom prst="roundRect">
            <a:avLst>
              <a:gd name="adj" fmla="val 7660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35824" y="241173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7A7DA">
              <a:alpha val="16000"/>
            </a:srgbClr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735824" y="24117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A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8357616" y="2185416"/>
            <a:ext cx="3139135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stays honest
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fake status is only injected at the get_line_status / get_line_disruption_detail tools the agent calls — the model still reasons genuinely over it, it just isn't real TfL data.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7589520" y="3360420"/>
            <a:ext cx="4053535" cy="1074420"/>
          </a:xfrm>
          <a:prstGeom prst="roundRect">
            <a:avLst>
              <a:gd name="adj" fmla="val 7660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735824" y="366903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ABA00">
              <a:alpha val="16000"/>
            </a:srgbClr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735824" y="36690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8357616" y="3442716"/>
            <a:ext cx="3139135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Full-page consistency
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departure board ticker and the itinerary's per-leg 'Disrupted' tag are overridden too, so the whole page agrees with the verdict instead of the text alone claiming a delay nothing else shows.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82296"/>
          </a:xfrm>
          <a:prstGeom prst="rect">
            <a:avLst/>
          </a:prstGeom>
          <a:solidFill>
            <a:srgbClr val="CD1012"/>
          </a:solidFill>
          <a:ln/>
        </p:spPr>
      </p:sp>
      <p:sp>
        <p:nvSpPr>
          <p:cNvPr id="3" name="Shape 1"/>
          <p:cNvSpPr/>
          <p:nvPr/>
        </p:nvSpPr>
        <p:spPr>
          <a:xfrm>
            <a:off x="3047924" y="0"/>
            <a:ext cx="3047924" cy="82296"/>
          </a:xfrm>
          <a:prstGeom prst="rect">
            <a:avLst/>
          </a:prstGeom>
          <a:solidFill>
            <a:srgbClr val="FABA00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0"/>
            <a:ext cx="3047924" cy="82296"/>
          </a:xfrm>
          <a:prstGeom prst="rect">
            <a:avLst/>
          </a:prstGeom>
          <a:solidFill>
            <a:srgbClr val="5CB74D"/>
          </a:solidFill>
          <a:ln/>
        </p:spPr>
      </p:sp>
      <p:sp>
        <p:nvSpPr>
          <p:cNvPr id="5" name="Shape 3"/>
          <p:cNvSpPr/>
          <p:nvPr/>
        </p:nvSpPr>
        <p:spPr>
          <a:xfrm>
            <a:off x="9143771" y="0"/>
            <a:ext cx="3047924" cy="82296"/>
          </a:xfrm>
          <a:prstGeom prst="rect">
            <a:avLst/>
          </a:prstGeom>
          <a:solidFill>
            <a:srgbClr val="17A7DA"/>
          </a:solidFill>
          <a:ln/>
        </p:spPr>
      </p:sp>
      <p:pic>
        <p:nvPicPr>
          <p:cNvPr id="6" name="Image 0" descr="/sessions/adoring-confident-faraday/mnt/outputs/work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5775" y="201168"/>
            <a:ext cx="1188720" cy="3067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731520"/>
            <a:ext cx="91440" cy="91440"/>
          </a:xfrm>
          <a:prstGeom prst="rect">
            <a:avLst/>
          </a:prstGeom>
          <a:solidFill>
            <a:srgbClr val="17A7D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685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across the build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21208" y="1417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assistant turn in today's Claude Code sessions, bucketed by the commit/feature it produced.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1920240"/>
            <a:ext cx="6400800" cy="3328416"/>
          </a:xfrm>
          <a:prstGeom prst="roundRect">
            <a:avLst>
              <a:gd name="adj" fmla="val 2747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223760" y="1920240"/>
            <a:ext cx="2125980" cy="1572768"/>
          </a:xfrm>
          <a:prstGeom prst="roundRect">
            <a:avLst>
              <a:gd name="adj" fmla="val 5814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223760" y="2057400"/>
            <a:ext cx="2125980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D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1,503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7223760" y="2895356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7C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TURNS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32620" y="1920240"/>
            <a:ext cx="2125980" cy="1572768"/>
          </a:xfrm>
          <a:prstGeom prst="roundRect">
            <a:avLst>
              <a:gd name="adj" fmla="val 5814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532620" y="2057400"/>
            <a:ext cx="2125980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A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840K</a:t>
            </a:r>
            <a:endParaRPr lang="en-US" sz="3200" dirty="0"/>
          </a:p>
        </p:txBody>
      </p:sp>
      <p:sp>
        <p:nvSpPr>
          <p:cNvPr id="18" name="Text 14"/>
          <p:cNvSpPr txBox="1"/>
          <p:nvPr/>
        </p:nvSpPr>
        <p:spPr>
          <a:xfrm>
            <a:off x="9532620" y="2895356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7C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TOKENS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223760" y="3675888"/>
            <a:ext cx="2125980" cy="1572768"/>
          </a:xfrm>
          <a:prstGeom prst="roundRect">
            <a:avLst>
              <a:gd name="adj" fmla="val 5814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223760" y="3813048"/>
            <a:ext cx="2125980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C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147.9M</a:t>
            </a:r>
            <a:endParaRPr lang="en-US" sz="3200" dirty="0"/>
          </a:p>
        </p:txBody>
      </p:sp>
      <p:sp>
        <p:nvSpPr>
          <p:cNvPr id="21" name="Text 17"/>
          <p:cNvSpPr txBox="1"/>
          <p:nvPr/>
        </p:nvSpPr>
        <p:spPr>
          <a:xfrm>
            <a:off x="7223760" y="4651004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7C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TOKENS PROCESSED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9532620" y="3675888"/>
            <a:ext cx="2125980" cy="1572768"/>
          </a:xfrm>
          <a:prstGeom prst="roundRect">
            <a:avLst>
              <a:gd name="adj" fmla="val 5814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532620" y="3813048"/>
            <a:ext cx="2125980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7A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~$24.90</a:t>
            </a:r>
            <a:endParaRPr lang="en-US" sz="3200" dirty="0"/>
          </a:p>
        </p:txBody>
      </p:sp>
      <p:sp>
        <p:nvSpPr>
          <p:cNvPr id="24" name="Text 20"/>
          <p:cNvSpPr txBox="1"/>
          <p:nvPr/>
        </p:nvSpPr>
        <p:spPr>
          <a:xfrm>
            <a:off x="9532620" y="4651004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7C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BEDROCK SPEND</a:t>
            </a:r>
            <a:endParaRPr lang="en-US" sz="1050" dirty="0"/>
          </a:p>
        </p:txBody>
      </p:sp>
      <p:pic>
        <p:nvPicPr>
          <p:cNvPr id="25" name="Picture 24" descr="usage_by_commit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103120"/>
            <a:ext cx="6035040" cy="29626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47924" cy="82296"/>
          </a:xfrm>
          <a:prstGeom prst="rect">
            <a:avLst/>
          </a:prstGeom>
          <a:solidFill>
            <a:srgbClr val="CD1012"/>
          </a:solidFill>
          <a:ln/>
        </p:spPr>
      </p:sp>
      <p:sp>
        <p:nvSpPr>
          <p:cNvPr id="3" name="Shape 1"/>
          <p:cNvSpPr/>
          <p:nvPr/>
        </p:nvSpPr>
        <p:spPr>
          <a:xfrm>
            <a:off x="3047924" y="0"/>
            <a:ext cx="3047924" cy="82296"/>
          </a:xfrm>
          <a:prstGeom prst="rect">
            <a:avLst/>
          </a:prstGeom>
          <a:solidFill>
            <a:srgbClr val="FABA00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0"/>
            <a:ext cx="3047924" cy="82296"/>
          </a:xfrm>
          <a:prstGeom prst="rect">
            <a:avLst/>
          </a:prstGeom>
          <a:solidFill>
            <a:srgbClr val="5CB74D"/>
          </a:solidFill>
          <a:ln/>
        </p:spPr>
      </p:sp>
      <p:sp>
        <p:nvSpPr>
          <p:cNvPr id="5" name="Shape 3"/>
          <p:cNvSpPr/>
          <p:nvPr/>
        </p:nvSpPr>
        <p:spPr>
          <a:xfrm>
            <a:off x="9143771" y="0"/>
            <a:ext cx="3047924" cy="82296"/>
          </a:xfrm>
          <a:prstGeom prst="rect">
            <a:avLst/>
          </a:prstGeom>
          <a:solidFill>
            <a:srgbClr val="17A7DA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731520"/>
            <a:ext cx="91440" cy="91440"/>
          </a:xfrm>
          <a:prstGeom prst="rect">
            <a:avLst/>
          </a:prstGeom>
          <a:solidFill>
            <a:srgbClr val="17A7D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685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breakdown &amp; efficiency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21208" y="1417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Claude models did the building, and what prompt caching saved along the way.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223760" y="1920240"/>
            <a:ext cx="2125980" cy="1572768"/>
          </a:xfrm>
          <a:prstGeom prst="roundRect">
            <a:avLst>
              <a:gd name="adj" fmla="val 5814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223760" y="1920240"/>
            <a:ext cx="2125980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C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7223760" y="192024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7C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RATE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32620" y="1920240"/>
            <a:ext cx="2125980" cy="1572768"/>
          </a:xfrm>
          <a:prstGeom prst="roundRect">
            <a:avLst>
              <a:gd name="adj" fmla="val 5814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532620" y="1920240"/>
            <a:ext cx="2125980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7A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$126</a:t>
            </a:r>
            <a:endParaRPr lang="en-US" sz="3200" dirty="0"/>
          </a:p>
        </p:txBody>
      </p:sp>
      <p:sp>
        <p:nvSpPr>
          <p:cNvPr id="18" name="Text 14"/>
          <p:cNvSpPr txBox="1"/>
          <p:nvPr/>
        </p:nvSpPr>
        <p:spPr>
          <a:xfrm>
            <a:off x="9532620" y="192024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7C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BY CACHING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223760" y="3675888"/>
            <a:ext cx="2125980" cy="1572768"/>
          </a:xfrm>
          <a:prstGeom prst="roundRect">
            <a:avLst>
              <a:gd name="adj" fmla="val 5814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223760" y="3675888"/>
            <a:ext cx="2125980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A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$0.017</a:t>
            </a:r>
            <a:endParaRPr lang="en-US" sz="3200" dirty="0"/>
          </a:p>
        </p:txBody>
      </p:sp>
      <p:sp>
        <p:nvSpPr>
          <p:cNvPr id="21" name="Text 17"/>
          <p:cNvSpPr txBox="1"/>
          <p:nvPr/>
        </p:nvSpPr>
        <p:spPr>
          <a:xfrm>
            <a:off x="7223760" y="3675888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7C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 / CALL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9532620" y="3675888"/>
            <a:ext cx="2125980" cy="1572768"/>
          </a:xfrm>
          <a:prstGeom prst="roundRect">
            <a:avLst>
              <a:gd name="adj" fmla="val 5814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532620" y="3675888"/>
            <a:ext cx="2125980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D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98K</a:t>
            </a:r>
            <a:endParaRPr lang="en-US" sz="3200" dirty="0"/>
          </a:p>
        </p:txBody>
      </p:sp>
      <p:sp>
        <p:nvSpPr>
          <p:cNvPr id="24" name="Text 20"/>
          <p:cNvSpPr txBox="1"/>
          <p:nvPr/>
        </p:nvSpPr>
        <p:spPr>
          <a:xfrm>
            <a:off x="9532620" y="3675888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7C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TOKENS / CALL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1920240"/>
            <a:ext cx="6400800" cy="3328416"/>
          </a:xfrm>
          <a:prstGeom prst="roundRect">
            <a:avLst>
              <a:gd name="adj" fmla="val 2747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5" name="TextBox 24"/>
          <p:cNvSpPr txBox="1"/>
          <p:nvPr/>
        </p:nvSpPr>
        <p:spPr>
          <a:xfrm>
            <a:off x="960120" y="2331720"/>
            <a:ext cx="557784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253A"/>
                </a:solidFill>
                <a:latin typeface="Calibri"/>
              </a:rPr>
              <a:t>claude-sonnet-5</a:t>
            </a:r>
            <a:r>
              <a:rPr sz="1100">
                <a:solidFill>
                  <a:srgbClr val="7C8EA3"/>
                </a:solidFill>
                <a:latin typeface="Calibri"/>
              </a:rPr>
              <a:t>   $19.31 · 1228 calls · 81.1%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2651720"/>
            <a:ext cx="5577840" cy="180000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" y="2651720"/>
            <a:ext cx="4521662" cy="180000"/>
          </a:xfrm>
          <a:prstGeom prst="rect">
            <a:avLst/>
          </a:prstGeom>
          <a:solidFill>
            <a:srgbClr val="17A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031720"/>
            <a:ext cx="557784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253A"/>
                </a:solidFill>
                <a:latin typeface="Calibri"/>
              </a:rPr>
              <a:t>claude-opus-5-5</a:t>
            </a:r>
            <a:r>
              <a:rPr sz="1100">
                <a:solidFill>
                  <a:srgbClr val="7C8EA3"/>
                </a:solidFill>
                <a:latin typeface="Calibri"/>
              </a:rPr>
              <a:t>   $5.18 · 261 calls · 18.3%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3351720"/>
            <a:ext cx="5577840" cy="180000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" y="3351720"/>
            <a:ext cx="1020410" cy="180000"/>
          </a:xfrm>
          <a:prstGeom prst="rect">
            <a:avLst/>
          </a:prstGeom>
          <a:solidFill>
            <a:srgbClr val="CD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3731720"/>
            <a:ext cx="557784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253A"/>
                </a:solidFill>
                <a:latin typeface="Calibri"/>
              </a:rPr>
              <a:t>claude-opus-5</a:t>
            </a:r>
            <a:r>
              <a:rPr sz="1100">
                <a:solidFill>
                  <a:srgbClr val="7C8EA3"/>
                </a:solidFill>
                <a:latin typeface="Calibri"/>
              </a:rPr>
              <a:t>   $0.41 · 14 calls · 0.6%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4051720"/>
            <a:ext cx="5577840" cy="180000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0120" y="4051720"/>
            <a:ext cx="60000" cy="180000"/>
          </a:xfrm>
          <a:prstGeom prst="rect">
            <a:avLst/>
          </a:prstGeom>
          <a:solidFill>
            <a:srgbClr val="FA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368656"/>
            <a:ext cx="64008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7C8EA3"/>
                </a:solidFill>
                <a:latin typeface="Calibri"/>
              </a:rPr>
              <a:t>This is build-time (coding assistant) usage. The deployed app's own live verdicts run on a separate, much smaller Haiku 4.5 call — tracked in-app, not here.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201168"/>
            <a:ext cx="1188720" cy="3067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82296"/>
          </a:xfrm>
          <a:prstGeom prst="rect">
            <a:avLst/>
          </a:prstGeom>
          <a:solidFill>
            <a:srgbClr val="CD1012"/>
          </a:solidFill>
          <a:ln/>
        </p:spPr>
      </p:sp>
      <p:sp>
        <p:nvSpPr>
          <p:cNvPr id="3" name="Shape 1"/>
          <p:cNvSpPr/>
          <p:nvPr/>
        </p:nvSpPr>
        <p:spPr>
          <a:xfrm>
            <a:off x="3047924" y="0"/>
            <a:ext cx="3047924" cy="82296"/>
          </a:xfrm>
          <a:prstGeom prst="rect">
            <a:avLst/>
          </a:prstGeom>
          <a:solidFill>
            <a:srgbClr val="FABA00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0"/>
            <a:ext cx="3047924" cy="82296"/>
          </a:xfrm>
          <a:prstGeom prst="rect">
            <a:avLst/>
          </a:prstGeom>
          <a:solidFill>
            <a:srgbClr val="5CB74D"/>
          </a:solidFill>
          <a:ln/>
        </p:spPr>
      </p:sp>
      <p:sp>
        <p:nvSpPr>
          <p:cNvPr id="5" name="Shape 3"/>
          <p:cNvSpPr/>
          <p:nvPr/>
        </p:nvSpPr>
        <p:spPr>
          <a:xfrm>
            <a:off x="9143771" y="0"/>
            <a:ext cx="3047924" cy="82296"/>
          </a:xfrm>
          <a:prstGeom prst="rect">
            <a:avLst/>
          </a:prstGeom>
          <a:solidFill>
            <a:srgbClr val="17A7DA"/>
          </a:solidFill>
          <a:ln/>
        </p:spPr>
      </p:sp>
      <p:pic>
        <p:nvPicPr>
          <p:cNvPr id="6" name="Image 0" descr="/sessions/adoring-confident-faraday/mnt/outputs/work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5775" y="201168"/>
            <a:ext cx="1188720" cy="3067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731520"/>
            <a:ext cx="91440" cy="91440"/>
          </a:xfrm>
          <a:prstGeom prst="rect">
            <a:avLst/>
          </a:prstGeom>
          <a:solidFill>
            <a:srgbClr val="CD101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685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914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technical highlights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02920" y="1463040"/>
            <a:ext cx="11185855" cy="932688"/>
          </a:xfrm>
          <a:prstGeom prst="roundRect">
            <a:avLst>
              <a:gd name="adj" fmla="val 8824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" y="1700784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CD1012">
              <a:alpha val="16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9224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D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71016" y="1545336"/>
            <a:ext cx="1027145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subprocess pre-spawning
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Claude Code subprocess is kept ready ahead of the next request, cutting the ~4s cold-spawn cost off most checks.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02920" y="2505456"/>
            <a:ext cx="11185855" cy="932688"/>
          </a:xfrm>
          <a:prstGeom prst="roundRect">
            <a:avLst>
              <a:gd name="adj" fmla="val 8824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9224" y="27432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ABA00">
              <a:alpha val="16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9224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271016" y="2587752"/>
            <a:ext cx="1027145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Schema-constrained model output
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final answer is forced through a JSON schema, so the server always gets a parseable verdict instead of occasionally-malformed prose.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3547872"/>
            <a:ext cx="11185855" cy="932688"/>
          </a:xfrm>
          <a:prstGeom prst="roundRect">
            <a:avLst>
              <a:gd name="adj" fmla="val 8824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9224" y="378561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5CB74D">
              <a:alpha val="16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9224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271016" y="3630168"/>
            <a:ext cx="1027145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tool surface
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gets exactly 4 read-only TfL tools and nothing else — no built-in tools, no filesystem, no ~/.claude settings leaking into a server process.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02920" y="4590288"/>
            <a:ext cx="11185855" cy="932688"/>
          </a:xfrm>
          <a:prstGeom prst="roundRect">
            <a:avLst>
              <a:gd name="adj" fmla="val 8824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9224" y="482803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7A7DA">
              <a:alpha val="16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9224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A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271016" y="4672584"/>
            <a:ext cx="1027145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cancel-in-flight
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new check interrupts any still-running previous one on the server, not just hiding it in the browser.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02920" y="5632704"/>
            <a:ext cx="11185855" cy="932688"/>
          </a:xfrm>
          <a:prstGeom prst="roundRect">
            <a:avLst>
              <a:gd name="adj" fmla="val 8824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9224" y="587044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CD1012">
              <a:alpha val="16000"/>
            </a:srgbClr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9224" y="5870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D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271016" y="5715000"/>
            <a:ext cx="1027145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timestamps
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get_line_disruption_detail now carries reportedAt / expectedEnd, so the model can say 'unknown' instead of guessing how long an incident will last.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82296"/>
          </a:xfrm>
          <a:prstGeom prst="rect">
            <a:avLst/>
          </a:prstGeom>
          <a:solidFill>
            <a:srgbClr val="CD1012"/>
          </a:solidFill>
          <a:ln/>
        </p:spPr>
      </p:sp>
      <p:sp>
        <p:nvSpPr>
          <p:cNvPr id="3" name="Shape 1"/>
          <p:cNvSpPr/>
          <p:nvPr/>
        </p:nvSpPr>
        <p:spPr>
          <a:xfrm>
            <a:off x="3047924" y="0"/>
            <a:ext cx="3047924" cy="82296"/>
          </a:xfrm>
          <a:prstGeom prst="rect">
            <a:avLst/>
          </a:prstGeom>
          <a:solidFill>
            <a:srgbClr val="FABA00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0"/>
            <a:ext cx="3047924" cy="82296"/>
          </a:xfrm>
          <a:prstGeom prst="rect">
            <a:avLst/>
          </a:prstGeom>
          <a:solidFill>
            <a:srgbClr val="5CB74D"/>
          </a:solidFill>
          <a:ln/>
        </p:spPr>
      </p:sp>
      <p:sp>
        <p:nvSpPr>
          <p:cNvPr id="5" name="Shape 3"/>
          <p:cNvSpPr/>
          <p:nvPr/>
        </p:nvSpPr>
        <p:spPr>
          <a:xfrm>
            <a:off x="9143771" y="0"/>
            <a:ext cx="3047924" cy="82296"/>
          </a:xfrm>
          <a:prstGeom prst="rect">
            <a:avLst/>
          </a:prstGeom>
          <a:solidFill>
            <a:srgbClr val="17A7DA"/>
          </a:solidFill>
          <a:ln/>
        </p:spPr>
      </p:sp>
      <p:pic>
        <p:nvPicPr>
          <p:cNvPr id="6" name="Image 0" descr="/sessions/adoring-confident-faraday/mnt/outputs/work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5775" y="201168"/>
            <a:ext cx="1188720" cy="3067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731520"/>
            <a:ext cx="91440" cy="91440"/>
          </a:xfrm>
          <a:prstGeom prst="rect">
            <a:avLst/>
          </a:prstGeom>
          <a:solidFill>
            <a:srgbClr val="5CB74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685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tackled &amp; how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11185855" cy="1417320"/>
          </a:xfrm>
          <a:prstGeom prst="roundRect">
            <a:avLst>
              <a:gd name="adj" fmla="val 5806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" y="21717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CD1012">
              <a:alpha val="16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9224" y="2171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D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71016" y="1773936"/>
            <a:ext cx="10271455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constraint
</a:t>
            </a:r>
            <a:endParaRPr lang="en-US" sz="1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called for Cloudflare Workers, but the Claude Agent SDK spawns a subprocess — no spawning on Workers. Resolved by moving to a long-lived Bun process instead.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2920" y="3291840"/>
            <a:ext cx="11185855" cy="1417320"/>
          </a:xfrm>
          <a:prstGeom prst="roundRect">
            <a:avLst>
              <a:gd name="adj" fmla="val 5806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9224" y="37719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ABA00">
              <a:alpha val="16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9224" y="3771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271016" y="3374136"/>
            <a:ext cx="10271455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
</a:t>
            </a:r>
            <a:endParaRPr lang="en-US" sz="1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which Bedrock routes were actually invokable (application inference profiles only, direct model IDs blocked by SCP) before writing the agent code, avoiding a dead end later.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2920" y="4892040"/>
            <a:ext cx="11185855" cy="1417320"/>
          </a:xfrm>
          <a:prstGeom prst="roundRect">
            <a:avLst>
              <a:gd name="adj" fmla="val 5806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9224" y="53721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5CB74D">
              <a:alpha val="16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9224" y="5372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271016" y="4974336"/>
            <a:ext cx="10271455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Live-vs-usual routing logic
</a:t>
            </a:r>
            <a:endParaRPr lang="en-US" sz="1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today's live journey to the user's usual route by mode/line signature, so 'your route' only shows real, live TfL data — not a guess.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82296"/>
          </a:xfrm>
          <a:prstGeom prst="rect">
            <a:avLst/>
          </a:prstGeom>
          <a:solidFill>
            <a:srgbClr val="CD1012"/>
          </a:solidFill>
          <a:ln/>
        </p:spPr>
      </p:sp>
      <p:sp>
        <p:nvSpPr>
          <p:cNvPr id="3" name="Shape 1"/>
          <p:cNvSpPr/>
          <p:nvPr/>
        </p:nvSpPr>
        <p:spPr>
          <a:xfrm>
            <a:off x="3047924" y="0"/>
            <a:ext cx="3047924" cy="82296"/>
          </a:xfrm>
          <a:prstGeom prst="rect">
            <a:avLst/>
          </a:prstGeom>
          <a:solidFill>
            <a:srgbClr val="FABA00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0"/>
            <a:ext cx="3047924" cy="82296"/>
          </a:xfrm>
          <a:prstGeom prst="rect">
            <a:avLst/>
          </a:prstGeom>
          <a:solidFill>
            <a:srgbClr val="5CB74D"/>
          </a:solidFill>
          <a:ln/>
        </p:spPr>
      </p:sp>
      <p:sp>
        <p:nvSpPr>
          <p:cNvPr id="5" name="Shape 3"/>
          <p:cNvSpPr/>
          <p:nvPr/>
        </p:nvSpPr>
        <p:spPr>
          <a:xfrm>
            <a:off x="9143771" y="0"/>
            <a:ext cx="3047924" cy="82296"/>
          </a:xfrm>
          <a:prstGeom prst="rect">
            <a:avLst/>
          </a:prstGeom>
          <a:solidFill>
            <a:srgbClr val="17A7DA"/>
          </a:solidFill>
          <a:ln/>
        </p:spPr>
      </p:sp>
      <p:pic>
        <p:nvPicPr>
          <p:cNvPr id="6" name="Image 0" descr="/sessions/adoring-confident-faraday/mnt/outputs/work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5775" y="201168"/>
            <a:ext cx="1188720" cy="3067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731520"/>
            <a:ext cx="91440" cy="91440"/>
          </a:xfrm>
          <a:prstGeom prst="rect">
            <a:avLst/>
          </a:prstGeom>
          <a:solidFill>
            <a:srgbClr val="FABA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685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914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improvements &amp; what's next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160020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4944" y="20802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CD1012">
              <a:alpha val="16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94944" y="2080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D1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316736" y="1682496"/>
            <a:ext cx="45262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line pills
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lines on one leg render as a single grouped chip instead of repeating.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09360" y="160020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55664" y="20802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ABA00">
              <a:alpha val="16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55664" y="2080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077456" y="1682496"/>
            <a:ext cx="45262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Saved-station badge cleanup
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Home/work chips simplified from dashed placeholder slots to compact pill buttons.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320040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4944" y="36804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5CB74D">
              <a:alpha val="16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94944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316736" y="3282696"/>
            <a:ext cx="45262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Dark-mode + confidence gauge
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Dark-mode logo + theme toggle, and a live confidence gauge on the verdict card.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309360" y="320040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55664" y="36804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7A7DA">
              <a:alpha val="16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55664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A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077456" y="3282696"/>
            <a:ext cx="45262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nCino branding &amp; identity
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nCino branding + user identity in the header for the internal-facing build.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48640" y="493776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3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5344668"/>
            <a:ext cx="74615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5344668"/>
            <a:ext cx="7461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706270" y="4937760"/>
            <a:ext cx="979962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C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usage logging — this deck's chart had to be reconstructed from session transcripts, worth writing straight to disk.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47924" cy="82296"/>
          </a:xfrm>
          <a:prstGeom prst="rect">
            <a:avLst/>
          </a:prstGeom>
          <a:solidFill>
            <a:srgbClr val="CD1012"/>
          </a:solidFill>
          <a:ln/>
        </p:spPr>
      </p:sp>
      <p:sp>
        <p:nvSpPr>
          <p:cNvPr id="3" name="Shape 1"/>
          <p:cNvSpPr/>
          <p:nvPr/>
        </p:nvSpPr>
        <p:spPr>
          <a:xfrm>
            <a:off x="3047924" y="0"/>
            <a:ext cx="3047924" cy="82296"/>
          </a:xfrm>
          <a:prstGeom prst="rect">
            <a:avLst/>
          </a:prstGeom>
          <a:solidFill>
            <a:srgbClr val="FABA00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0"/>
            <a:ext cx="3047924" cy="82296"/>
          </a:xfrm>
          <a:prstGeom prst="rect">
            <a:avLst/>
          </a:prstGeom>
          <a:solidFill>
            <a:srgbClr val="5CB74D"/>
          </a:solidFill>
          <a:ln/>
        </p:spPr>
      </p:sp>
      <p:sp>
        <p:nvSpPr>
          <p:cNvPr id="5" name="Shape 3"/>
          <p:cNvSpPr/>
          <p:nvPr/>
        </p:nvSpPr>
        <p:spPr>
          <a:xfrm>
            <a:off x="9143771" y="0"/>
            <a:ext cx="3047924" cy="82296"/>
          </a:xfrm>
          <a:prstGeom prst="rect">
            <a:avLst/>
          </a:prstGeom>
          <a:solidFill>
            <a:srgbClr val="17A7DA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731520"/>
            <a:ext cx="91440" cy="91440"/>
          </a:xfrm>
          <a:prstGeom prst="rect">
            <a:avLst/>
          </a:prstGeom>
          <a:solidFill>
            <a:srgbClr val="17A7D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685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cost, checkpoint by checkpoint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21208" y="1417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Bedrock spend on the coding-assistant session — every dot is a git commit.</a:t>
            </a:r>
            <a:endParaRPr lang="en-US" sz="1300" dirty="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201168"/>
            <a:ext cx="1188720" cy="30676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1920240"/>
            <a:ext cx="9601200" cy="3474720"/>
          </a:xfrm>
          <a:prstGeom prst="roundRect">
            <a:avLst>
              <a:gd name="adj" fmla="val 2747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pic>
        <p:nvPicPr>
          <p:cNvPr id="12" name="Picture 11" descr="cumulative_cost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11680"/>
            <a:ext cx="9326880" cy="439915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0312920" y="1920240"/>
            <a:ext cx="1330200" cy="3474720"/>
          </a:xfrm>
          <a:prstGeom prst="roundRect">
            <a:avLst>
              <a:gd name="adj" fmla="val 5814"/>
            </a:avLst>
          </a:prstGeom>
          <a:solidFill>
            <a:srgbClr val="FBFCFD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312920" y="3220240"/>
            <a:ext cx="1330200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A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$24.90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10312920" y="4120240"/>
            <a:ext cx="133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7C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TODAY</a:t>
            </a:r>
            <a:endParaRPr lang="en-US" sz="1050" dirty="0"/>
          </a:p>
        </p:txBody>
      </p:sp>
      <p:sp>
        <p:nvSpPr>
          <p:cNvPr id="16" name="TextBox 15"/>
          <p:cNvSpPr txBox="1"/>
          <p:nvPr/>
        </p:nvSpPr>
        <p:spPr>
          <a:xfrm>
            <a:off x="10312920" y="4440240"/>
            <a:ext cx="13302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7C8EA3"/>
                </a:solidFill>
                <a:latin typeface="Calibri"/>
              </a:rPr>
              <a:t>147.9M tokens</a:t>
            </a:r>
          </a:p>
          <a:p>
            <a:pPr algn="ctr"/>
            <a:r>
              <a:rPr sz="1050">
                <a:solidFill>
                  <a:srgbClr val="7C8EA3"/>
                </a:solidFill>
                <a:latin typeface="Calibri"/>
              </a:rPr>
              <a:t>1503 calls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2026-09-23T14:08:29Z</dcterms:created>
  <dcterms:modified xsi:type="dcterms:W3CDTF">2026-09-23T14:08:29Z</dcterms:modified>
</cp:coreProperties>
</file>