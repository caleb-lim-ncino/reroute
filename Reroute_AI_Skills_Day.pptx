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5" r:id="rId16"/>
    <p:sldId id="267" r:id="rId18"/>
    <p:sldId id="268" r:id="rId19"/>
    <p:sldId id="266" r:id="rId17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2F2F2"/>
                </a:solidFill>
                <a:latin typeface="Calibri"/>
              </a:rPr>
              <a:t>Building an AI-verdict Tube-disruption app in one working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D3EE"/>
                </a:solidFill>
                <a:latin typeface="Calibri"/>
              </a:rPr>
              <a:t>Caleb Lim  ·  2026-09-23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41A42"/>
                </a:solidFill>
                <a:latin typeface="Calibri"/>
              </a:rPr>
              <a:t>What is Reroute?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019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1800" b="1">
                <a:solidFill>
                  <a:srgbClr val="0092C7"/>
                </a:solidFill>
                <a:latin typeface="Calibri"/>
              </a:rPr>
              <a:t>The problem:  </a:t>
            </a:r>
            <a:r>
              <a:rPr sz="1800">
                <a:solidFill>
                  <a:srgbClr val="141A42"/>
                </a:solidFill>
                <a:latin typeface="Calibri"/>
              </a:rPr>
              <a:t>your usual Tube route might be disrupted right now, and checking line status yourself takes several taps.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0092C7"/>
                </a:solidFill>
                <a:latin typeface="Calibri"/>
              </a:rPr>
              <a:t>The approach:  </a:t>
            </a:r>
            <a:r>
              <a:rPr sz="1800">
                <a:solidFill>
                  <a:srgbClr val="141A42"/>
                </a:solidFill>
                <a:latin typeface="Calibri"/>
              </a:rPr>
              <a:t>Bun + Hono backend calls the TfL Unified API for live journeys, crowding and line status, then hands that data to a Claude agent (via Bedrock) that returns a plain-English verdict.</a:t>
            </a:r>
          </a:p>
          <a:p>
            <a:pPr>
              <a:spcAft>
                <a:spcPts val="1800"/>
              </a:spcAft>
            </a:pPr>
            <a:r>
              <a:rPr sz="1800" b="1">
                <a:solidFill>
                  <a:srgbClr val="0092C7"/>
                </a:solidFill>
                <a:latin typeface="Calibri"/>
              </a:rPr>
              <a:t>The output:  </a:t>
            </a:r>
            <a:r>
              <a:rPr sz="1800">
                <a:solidFill>
                  <a:srgbClr val="141A42"/>
                </a:solidFill>
                <a:latin typeface="Calibri"/>
              </a:rPr>
              <a:t>"Your usual route still holds" or "Take this route instead" — with the live journey, timing, and confidence shown.</a:t>
            </a:r>
          </a:p>
        </p:txBody>
      </p:sp>
      <p:pic>
        <p:nvPicPr>
          <p:cNvPr id="5" name="Picture 4" descr="06_0d179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615" y="2757884"/>
            <a:ext cx="4600000" cy="2073751"/>
          </a:xfrm>
          <a:prstGeom prst="roundRect">
            <a:avLst>
              <a:gd name="adj" fmla="val 4000"/>
            </a:avLst>
          </a:prstGeom>
          <a:ln w="12700">
            <a:solidFill>
              <a:srgbClr val="F2F2F2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41A42"/>
                </a:solidFill>
                <a:latin typeface="Calibri"/>
              </a:rPr>
              <a:t>How it evolved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2514E"/>
                </a:solidFill>
                <a:latin typeface="Calibri"/>
              </a:rPr>
              <a:t>Six checkpoints, ~09:00–13:00 today — reconstructed from git history</a:t>
            </a:r>
          </a:p>
        </p:txBody>
      </p:sp>
      <p:sp>
        <p:nvSpPr>
          <p:cNvPr id="100" name="Card 1"/>
          <p:cNvSpPr/>
          <p:nvPr/>
        </p:nvSpPr>
        <p:spPr>
          <a:xfrm>
            <a:off x="640080" y="1700000"/>
            <a:ext cx="3393338" cy="216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101" name="Num 1"/>
          <p:cNvSpPr/>
          <p:nvPr/>
        </p:nvSpPr>
        <p:spPr>
          <a:xfrm>
            <a:off x="914400" y="1974320"/>
            <a:ext cx="550000" cy="550000"/>
          </a:xfrm>
          <a:prstGeom prst="ellipse">
            <a:avLst/>
          </a:prstGeom>
          <a:solidFill>
            <a:srgbClr val="0092C7"/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2" name="Time 1"/>
          <p:cNvSpPr txBox="1"/>
          <p:nvPr/>
        </p:nvSpPr>
        <p:spPr>
          <a:xfrm>
            <a:off x="1614400" y="1974320"/>
            <a:ext cx="2144698" cy="5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800" b="1">
                <a:solidFill>
                  <a:srgbClr val="141A42"/>
                </a:solidFill>
                <a:latin typeface="Calibri"/>
              </a:rPr>
              <a:t>10:41</a:t>
            </a:r>
          </a:p>
        </p:txBody>
      </p:sp>
      <p:sp>
        <p:nvSpPr>
          <p:cNvPr id="103" name="Label 1"/>
          <p:cNvSpPr txBox="1"/>
          <p:nvPr/>
        </p:nvSpPr>
        <p:spPr>
          <a:xfrm>
            <a:off x="914400" y="2674320"/>
            <a:ext cx="2844698" cy="91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3D3D3D"/>
                </a:solidFill>
                <a:latin typeface="Calibri"/>
              </a:rPr>
              <a:t>TfL tools + Agent SDK verdict</a:t>
            </a:r>
          </a:p>
        </p:txBody>
      </p:sp>
      <p:sp>
        <p:nvSpPr>
          <p:cNvPr id="104" name="Arrow 1"/>
          <p:cNvSpPr/>
          <p:nvPr/>
        </p:nvSpPr>
        <p:spPr>
          <a:xfrm>
            <a:off x="4073418" y="2753760"/>
            <a:ext cx="285760" cy="60000"/>
          </a:xfrm>
          <a:prstGeom prst="rightArrow">
            <a:avLst/>
          </a:prstGeom>
          <a:solidFill>
            <a:srgbClr val="B9E3F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" name="Card 2"/>
          <p:cNvSpPr/>
          <p:nvPr/>
        </p:nvSpPr>
        <p:spPr>
          <a:xfrm>
            <a:off x="4399178" y="1700000"/>
            <a:ext cx="3393338" cy="216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106" name="Num 2"/>
          <p:cNvSpPr/>
          <p:nvPr/>
        </p:nvSpPr>
        <p:spPr>
          <a:xfrm>
            <a:off x="4673498" y="1974320"/>
            <a:ext cx="550000" cy="550000"/>
          </a:xfrm>
          <a:prstGeom prst="ellipse">
            <a:avLst/>
          </a:prstGeom>
          <a:solidFill>
            <a:srgbClr val="0092C7"/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7" name="Time 2"/>
          <p:cNvSpPr txBox="1"/>
          <p:nvPr/>
        </p:nvSpPr>
        <p:spPr>
          <a:xfrm>
            <a:off x="5373498" y="1974320"/>
            <a:ext cx="2144698" cy="5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800" b="1">
                <a:solidFill>
                  <a:srgbClr val="141A42"/>
                </a:solidFill>
                <a:latin typeface="Calibri"/>
              </a:rPr>
              <a:t>10:51</a:t>
            </a:r>
          </a:p>
        </p:txBody>
      </p:sp>
      <p:sp>
        <p:nvSpPr>
          <p:cNvPr id="108" name="Label 2"/>
          <p:cNvSpPr txBox="1"/>
          <p:nvPr/>
        </p:nvSpPr>
        <p:spPr>
          <a:xfrm>
            <a:off x="4673498" y="2674320"/>
            <a:ext cx="2844698" cy="91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3D3D3D"/>
                </a:solidFill>
                <a:latin typeface="Calibri"/>
              </a:rPr>
              <a:t>Autocomplete &amp; saved stations</a:t>
            </a:r>
          </a:p>
        </p:txBody>
      </p:sp>
      <p:sp>
        <p:nvSpPr>
          <p:cNvPr id="109" name="Arrow 2"/>
          <p:cNvSpPr/>
          <p:nvPr/>
        </p:nvSpPr>
        <p:spPr>
          <a:xfrm>
            <a:off x="7832516" y="2753760"/>
            <a:ext cx="285760" cy="60000"/>
          </a:xfrm>
          <a:prstGeom prst="rightArrow">
            <a:avLst/>
          </a:prstGeom>
          <a:solidFill>
            <a:srgbClr val="B9E3F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" name="Card 3"/>
          <p:cNvSpPr/>
          <p:nvPr/>
        </p:nvSpPr>
        <p:spPr>
          <a:xfrm>
            <a:off x="8158276" y="1700000"/>
            <a:ext cx="3393338" cy="216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111" name="Num 3"/>
          <p:cNvSpPr/>
          <p:nvPr/>
        </p:nvSpPr>
        <p:spPr>
          <a:xfrm>
            <a:off x="8432596" y="1974320"/>
            <a:ext cx="550000" cy="550000"/>
          </a:xfrm>
          <a:prstGeom prst="ellipse">
            <a:avLst/>
          </a:prstGeom>
          <a:solidFill>
            <a:srgbClr val="0092C7"/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2" name="Time 3"/>
          <p:cNvSpPr txBox="1"/>
          <p:nvPr/>
        </p:nvSpPr>
        <p:spPr>
          <a:xfrm>
            <a:off x="9132596" y="1974320"/>
            <a:ext cx="2144698" cy="5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800" b="1">
                <a:solidFill>
                  <a:srgbClr val="141A42"/>
                </a:solidFill>
                <a:latin typeface="Calibri"/>
              </a:rPr>
              <a:t>11:16</a:t>
            </a:r>
          </a:p>
        </p:txBody>
      </p:sp>
      <p:sp>
        <p:nvSpPr>
          <p:cNvPr id="113" name="Label 3"/>
          <p:cNvSpPr txBox="1"/>
          <p:nvPr/>
        </p:nvSpPr>
        <p:spPr>
          <a:xfrm>
            <a:off x="8432596" y="2674320"/>
            <a:ext cx="2844698" cy="91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3D3D3D"/>
                </a:solidFill>
                <a:latin typeface="Calibri"/>
              </a:rPr>
              <a:t>Expanded TfL tooling</a:t>
            </a:r>
          </a:p>
        </p:txBody>
      </p:sp>
      <p:sp>
        <p:nvSpPr>
          <p:cNvPr id="114" name="Card 4"/>
          <p:cNvSpPr/>
          <p:nvPr/>
        </p:nvSpPr>
        <p:spPr>
          <a:xfrm>
            <a:off x="640080" y="4233280"/>
            <a:ext cx="3393338" cy="216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115" name="Num 4"/>
          <p:cNvSpPr/>
          <p:nvPr/>
        </p:nvSpPr>
        <p:spPr>
          <a:xfrm>
            <a:off x="914400" y="4507600"/>
            <a:ext cx="550000" cy="550000"/>
          </a:xfrm>
          <a:prstGeom prst="ellipse">
            <a:avLst/>
          </a:prstGeom>
          <a:solidFill>
            <a:srgbClr val="0092C7"/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6" name="Time 4"/>
          <p:cNvSpPr txBox="1"/>
          <p:nvPr/>
        </p:nvSpPr>
        <p:spPr>
          <a:xfrm>
            <a:off x="1614400" y="4507600"/>
            <a:ext cx="2144698" cy="5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800" b="1">
                <a:solidFill>
                  <a:srgbClr val="141A42"/>
                </a:solidFill>
                <a:latin typeface="Calibri"/>
              </a:rPr>
              <a:t>11:43</a:t>
            </a:r>
          </a:p>
        </p:txBody>
      </p:sp>
      <p:sp>
        <p:nvSpPr>
          <p:cNvPr id="117" name="Label 4"/>
          <p:cNvSpPr txBox="1"/>
          <p:nvPr/>
        </p:nvSpPr>
        <p:spPr>
          <a:xfrm>
            <a:off x="914400" y="5207600"/>
            <a:ext cx="2844698" cy="91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3D3D3D"/>
                </a:solidFill>
                <a:latin typeface="Calibri"/>
              </a:rPr>
              <a:t>Branding pass</a:t>
            </a:r>
          </a:p>
        </p:txBody>
      </p:sp>
      <p:sp>
        <p:nvSpPr>
          <p:cNvPr id="118" name="Arrow 4"/>
          <p:cNvSpPr/>
          <p:nvPr/>
        </p:nvSpPr>
        <p:spPr>
          <a:xfrm>
            <a:off x="4073418" y="5287040"/>
            <a:ext cx="285760" cy="60000"/>
          </a:xfrm>
          <a:prstGeom prst="rightArrow">
            <a:avLst/>
          </a:prstGeom>
          <a:solidFill>
            <a:srgbClr val="B9E3F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Card 5"/>
          <p:cNvSpPr/>
          <p:nvPr/>
        </p:nvSpPr>
        <p:spPr>
          <a:xfrm>
            <a:off x="4399178" y="4233280"/>
            <a:ext cx="3393338" cy="216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120" name="Num 5"/>
          <p:cNvSpPr/>
          <p:nvPr/>
        </p:nvSpPr>
        <p:spPr>
          <a:xfrm>
            <a:off x="4673498" y="4507600"/>
            <a:ext cx="550000" cy="550000"/>
          </a:xfrm>
          <a:prstGeom prst="ellipse">
            <a:avLst/>
          </a:prstGeom>
          <a:solidFill>
            <a:srgbClr val="0092C7"/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1" name="Time 5"/>
          <p:cNvSpPr txBox="1"/>
          <p:nvPr/>
        </p:nvSpPr>
        <p:spPr>
          <a:xfrm>
            <a:off x="5373498" y="4507600"/>
            <a:ext cx="2144698" cy="5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800" b="1">
                <a:solidFill>
                  <a:srgbClr val="141A42"/>
                </a:solidFill>
                <a:latin typeface="Calibri"/>
              </a:rPr>
              <a:t>12:07</a:t>
            </a:r>
          </a:p>
        </p:txBody>
      </p:sp>
      <p:sp>
        <p:nvSpPr>
          <p:cNvPr id="122" name="Label 5"/>
          <p:cNvSpPr txBox="1"/>
          <p:nvPr/>
        </p:nvSpPr>
        <p:spPr>
          <a:xfrm>
            <a:off x="4673498" y="5207600"/>
            <a:ext cx="2844698" cy="91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3D3D3D"/>
                </a:solidFill>
                <a:latin typeface="Calibri"/>
              </a:rPr>
              <a:t>Resilience + polish</a:t>
            </a:r>
          </a:p>
        </p:txBody>
      </p:sp>
      <p:sp>
        <p:nvSpPr>
          <p:cNvPr id="123" name="Arrow 5"/>
          <p:cNvSpPr/>
          <p:nvPr/>
        </p:nvSpPr>
        <p:spPr>
          <a:xfrm>
            <a:off x="7832516" y="5287040"/>
            <a:ext cx="285760" cy="60000"/>
          </a:xfrm>
          <a:prstGeom prst="rightArrow">
            <a:avLst/>
          </a:prstGeom>
          <a:solidFill>
            <a:srgbClr val="B9E3F2"/>
          </a:solidFill>
          <a:ln>
            <a:noFill/>
          </a:ln>
        </p:spPr>
        <p:txBody>
          <a:bodyPr/>
          <a:lstStyle/>
          <a:p/>
        </p:txBody>
      </p:sp>
      <p:sp>
        <p:nvSpPr>
          <p:cNvPr id="124" name="Card 6"/>
          <p:cNvSpPr/>
          <p:nvPr/>
        </p:nvSpPr>
        <p:spPr>
          <a:xfrm>
            <a:off x="8158276" y="4233280"/>
            <a:ext cx="3393338" cy="216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125" name="Num 6"/>
          <p:cNvSpPr/>
          <p:nvPr/>
        </p:nvSpPr>
        <p:spPr>
          <a:xfrm>
            <a:off x="8432596" y="4507600"/>
            <a:ext cx="550000" cy="550000"/>
          </a:xfrm>
          <a:prstGeom prst="ellipse">
            <a:avLst/>
          </a:prstGeom>
          <a:solidFill>
            <a:srgbClr val="0092C7"/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26" name="Time 6"/>
          <p:cNvSpPr txBox="1"/>
          <p:nvPr/>
        </p:nvSpPr>
        <p:spPr>
          <a:xfrm>
            <a:off x="9132596" y="4507600"/>
            <a:ext cx="2144698" cy="5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800" b="1">
                <a:solidFill>
                  <a:srgbClr val="141A42"/>
                </a:solidFill>
                <a:latin typeface="Calibri"/>
              </a:rPr>
              <a:t>13:00</a:t>
            </a:r>
          </a:p>
        </p:txBody>
      </p:sp>
      <p:sp>
        <p:nvSpPr>
          <p:cNvPr id="127" name="Label 6"/>
          <p:cNvSpPr txBox="1"/>
          <p:nvPr/>
        </p:nvSpPr>
        <p:spPr>
          <a:xfrm>
            <a:off x="8432596" y="5207600"/>
            <a:ext cx="2844698" cy="91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400" b="0">
                <a:solidFill>
                  <a:srgbClr val="3D3D3D"/>
                </a:solidFill>
                <a:latin typeface="Calibri"/>
              </a:rPr>
              <a:t>Final UI pass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A42"/>
                </a:solidFill>
                <a:latin typeface="Calibri"/>
              </a:rPr>
              <a:t>Rerouting, live departures &amp;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Calibri"/>
              </a:rPr>
              <a:t>Three things the verdict card always carries alongside the plain-English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at_section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940" y="1947671"/>
            <a:ext cx="2965520" cy="1965959"/>
          </a:xfrm>
          <a:prstGeom prst="roundRect">
            <a:avLst>
              <a:gd name="adj" fmla="val 4000"/>
            </a:avLst>
          </a:prstGeom>
          <a:ln w="9525">
            <a:solidFill>
              <a:srgbClr val="F2F2F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49808" y="3877055"/>
            <a:ext cx="51297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Calibri"/>
              </a:rPr>
              <a:t>Live departure board — real-time arrivals for your platform, both directions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_15238ff_judge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634" y="1947671"/>
            <a:ext cx="3610371" cy="1965960"/>
          </a:xfrm>
          <a:prstGeom prst="roundRect">
            <a:avLst>
              <a:gd name="adj" fmla="val 4000"/>
            </a:avLst>
          </a:prstGeom>
          <a:ln w="9525">
            <a:solidFill>
              <a:srgbClr val="F2F2F2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81928" y="3877055"/>
            <a:ext cx="51297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Calibri"/>
              </a:rPr>
              <a:t>Rerouting: a genuine live disruption, recommending the Circle line instead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343400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eat_section_bot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332" y="4416552"/>
            <a:ext cx="3466735" cy="1965960"/>
          </a:xfrm>
          <a:prstGeom prst="roundRect">
            <a:avLst>
              <a:gd name="adj" fmla="val 4000"/>
            </a:avLst>
          </a:prstGeom>
          <a:ln w="9525">
            <a:solidFill>
              <a:srgbClr val="F2F2F2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" y="6345936"/>
            <a:ext cx="51297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Calibri"/>
              </a:rPr>
              <a:t>"Other ways to go" — bus-only alternative, expanded to its full itinerary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343400"/>
            <a:ext cx="5349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0092C7"/>
                </a:solidFill>
                <a:latin typeface="Calibri"/>
              </a:rPr>
              <a:t>Rerouting:  </a:t>
            </a:r>
            <a:r>
              <a:rPr sz="1300">
                <a:solidFill>
                  <a:srgbClr val="141A42"/>
                </a:solidFill>
                <a:latin typeface="Calibri"/>
              </a:rPr>
              <a:t>when the model sets recommended_live_option, the page swaps in that live TfL journey — a real alternative, not a guess.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092C7"/>
                </a:solidFill>
                <a:latin typeface="Calibri"/>
              </a:rPr>
              <a:t>Alternatives:  </a:t>
            </a:r>
            <a:r>
              <a:rPr sz="1300">
                <a:solidFill>
                  <a:srgbClr val="141A42"/>
                </a:solidFill>
                <a:latin typeface="Calibri"/>
              </a:rPr>
              <a:t>every card also carries tube-only and bus-only options, priced and timed against the recommended route, each expandable to its own stop-by-stop itinerary.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A42"/>
                </a:solidFill>
                <a:latin typeface="Calibri"/>
              </a:rPr>
              <a:t>Token usage across the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Calibri"/>
              </a:rPr>
              <a:t>Pulled from local Claude Code session transcripts for today (all assistant turns, deduped by message id).</a:t>
            </a:r>
          </a:p>
        </p:txBody>
      </p:sp>
      <p:pic>
        <p:nvPicPr>
          <p:cNvPr id="5" name="Picture 4" descr="usage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00873"/>
            <a:ext cx="7200000" cy="3532874"/>
          </a:xfrm>
          <a:prstGeom prst="rect">
            <a:avLst/>
          </a:prstGeom>
        </p:spPr>
      </p:pic>
      <p:sp>
        <p:nvSpPr>
          <p:cNvPr id="200" name="StatCard 1"/>
          <p:cNvSpPr/>
          <p:nvPr/>
        </p:nvSpPr>
        <p:spPr>
          <a:xfrm>
            <a:off x="7970000" y="1360000"/>
            <a:ext cx="3760000" cy="14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201" name="StatNum 1"/>
          <p:cNvSpPr txBox="1"/>
          <p:nvPr/>
        </p:nvSpPr>
        <p:spPr>
          <a:xfrm>
            <a:off x="8100000" y="1460000"/>
            <a:ext cx="3500000" cy="95000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6000" b="1">
                <a:solidFill>
                  <a:srgbClr val="0092C7"/>
                </a:solidFill>
                <a:latin typeface="Calibri"/>
              </a:rPr>
              <a:t>824</a:t>
            </a:r>
          </a:p>
        </p:txBody>
      </p:sp>
      <p:sp>
        <p:nvSpPr>
          <p:cNvPr id="202" name="StatLabel 1"/>
          <p:cNvSpPr txBox="1"/>
          <p:nvPr/>
        </p:nvSpPr>
        <p:spPr>
          <a:xfrm>
            <a:off x="8100000" y="2470000"/>
            <a:ext cx="3500000" cy="23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Calibri"/>
              </a:rPr>
              <a:t>model turns</a:t>
            </a:r>
          </a:p>
        </p:txBody>
      </p:sp>
      <p:sp>
        <p:nvSpPr>
          <p:cNvPr id="203" name="StatCard 2"/>
          <p:cNvSpPr/>
          <p:nvPr/>
        </p:nvSpPr>
        <p:spPr>
          <a:xfrm>
            <a:off x="7970000" y="2710000"/>
            <a:ext cx="3760000" cy="14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204" name="StatNum 2"/>
          <p:cNvSpPr txBox="1"/>
          <p:nvPr/>
        </p:nvSpPr>
        <p:spPr>
          <a:xfrm>
            <a:off x="8100000" y="2810000"/>
            <a:ext cx="3500000" cy="95000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6000" b="1">
                <a:solidFill>
                  <a:srgbClr val="0092C7"/>
                </a:solidFill>
                <a:latin typeface="Calibri"/>
              </a:rPr>
              <a:t>501K</a:t>
            </a:r>
          </a:p>
        </p:txBody>
      </p:sp>
      <p:sp>
        <p:nvSpPr>
          <p:cNvPr id="205" name="StatLabel 2"/>
          <p:cNvSpPr txBox="1"/>
          <p:nvPr/>
        </p:nvSpPr>
        <p:spPr>
          <a:xfrm>
            <a:off x="8100000" y="3820000"/>
            <a:ext cx="3500000" cy="23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Calibri"/>
              </a:rPr>
              <a:t>output tokens</a:t>
            </a:r>
          </a:p>
        </p:txBody>
      </p:sp>
      <p:sp>
        <p:nvSpPr>
          <p:cNvPr id="206" name="StatCard 3"/>
          <p:cNvSpPr/>
          <p:nvPr/>
        </p:nvSpPr>
        <p:spPr>
          <a:xfrm>
            <a:off x="7970000" y="4060000"/>
            <a:ext cx="3760000" cy="14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207" name="StatNum 3"/>
          <p:cNvSpPr txBox="1"/>
          <p:nvPr/>
        </p:nvSpPr>
        <p:spPr>
          <a:xfrm>
            <a:off x="8100000" y="4160000"/>
            <a:ext cx="3500000" cy="95000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6000" b="1">
                <a:solidFill>
                  <a:srgbClr val="0092C7"/>
                </a:solidFill>
                <a:latin typeface="Calibri"/>
              </a:rPr>
              <a:t>67.5M</a:t>
            </a:r>
          </a:p>
        </p:txBody>
      </p:sp>
      <p:sp>
        <p:nvSpPr>
          <p:cNvPr id="208" name="StatLabel 3"/>
          <p:cNvSpPr txBox="1"/>
          <p:nvPr/>
        </p:nvSpPr>
        <p:spPr>
          <a:xfrm>
            <a:off x="8100000" y="5170000"/>
            <a:ext cx="3500000" cy="23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Calibri"/>
              </a:rPr>
              <a:t>total tokens processed</a:t>
            </a:r>
          </a:p>
        </p:txBody>
      </p:sp>
      <p:sp>
        <p:nvSpPr>
          <p:cNvPr id="209" name="StatCard 4"/>
          <p:cNvSpPr/>
          <p:nvPr/>
        </p:nvSpPr>
        <p:spPr>
          <a:xfrm>
            <a:off x="7970000" y="5410000"/>
            <a:ext cx="3760000" cy="1440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210" name="StatNum 4"/>
          <p:cNvSpPr txBox="1"/>
          <p:nvPr/>
        </p:nvSpPr>
        <p:spPr>
          <a:xfrm>
            <a:off x="8100000" y="5510000"/>
            <a:ext cx="3500000" cy="950000"/>
          </a:xfrm>
          <a:prstGeom prst="rect">
            <a:avLst/>
          </a:prstGeom>
          <a:noFill/>
        </p:spPr>
        <p:txBody>
          <a:bodyPr wrap="square" anchor="b" lIns="0" tIns="0" rIns="0" bIns="0">
            <a:noAutofit/>
          </a:bodyPr>
          <a:lstStyle/>
          <a:p>
            <a:pPr algn="l"/>
            <a:r>
              <a:rPr sz="6000" b="1">
                <a:solidFill>
                  <a:srgbClr val="0092C7"/>
                </a:solidFill>
                <a:latin typeface="Calibri"/>
              </a:rPr>
              <a:t>~$12.51</a:t>
            </a:r>
          </a:p>
        </p:txBody>
      </p:sp>
      <p:sp>
        <p:nvSpPr>
          <p:cNvPr id="211" name="StatLabel 4"/>
          <p:cNvSpPr txBox="1"/>
          <p:nvPr/>
        </p:nvSpPr>
        <p:spPr>
          <a:xfrm>
            <a:off x="8100000" y="6520000"/>
            <a:ext cx="3500000" cy="2300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/>
            <a:r>
              <a:rPr sz="1100" b="0">
                <a:solidFill>
                  <a:srgbClr val="52514E"/>
                </a:solidFill>
                <a:latin typeface="Calibri"/>
              </a:rPr>
              <a:t>estimated Bedrock spend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Icon Circle"/>
          <p:cNvSpPr/>
          <p:nvPr/>
        </p:nvSpPr>
        <p:spPr>
          <a:xfrm>
            <a:off x="640080" y="457200"/>
            <a:ext cx="548640" cy="548640"/>
          </a:xfrm>
          <a:prstGeom prst="ellipse">
            <a:avLst/>
          </a:prstGeom>
          <a:solidFill>
            <a:srgbClr val="0092C7"/>
          </a:solidFill>
          <a:ln>
            <a:noFill/>
          </a:ln>
        </p:spPr>
        <p:txBody>
          <a:bodyPr anchor="ctr" anchorCtr="1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572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A42"/>
                </a:solidFill>
                <a:latin typeface="Calibri"/>
              </a:rPr>
              <a:t>The judge test: real TfL data is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0092C7"/>
                </a:solidFill>
                <a:latin typeface="Calibri"/>
              </a:rPr>
              <a:t>What it is:  </a:t>
            </a:r>
            <a:r>
              <a:rPr sz="1700">
                <a:solidFill>
                  <a:srgbClr val="141A42"/>
                </a:solidFill>
                <a:latin typeface="Calibri"/>
              </a:rPr>
              <a:t>the same Hammersmith → Liverpool Street query run against every checkpoint, live, against whatever TfL's network was actually doing at that moment.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0092C7"/>
                </a:solidFill>
                <a:latin typeface="Calibri"/>
              </a:rPr>
              <a:t>What it showed:  </a:t>
            </a:r>
            <a:r>
              <a:rPr sz="1700">
                <a:solidFill>
                  <a:srgbClr val="141A42"/>
                </a:solidFill>
                <a:latin typeface="Calibri"/>
              </a:rPr>
              <a:t>the Hammersmith &amp; City line was genuinely running Minor Delays all session — but TfL's own journey planner quietly routes around it, and the agent doesn't always pick the same alternative twice. One run recommended the Circle line as a detour; another found the usual route was already Circle, so nothing needed to change.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0092C7"/>
                </a:solidFill>
                <a:latin typeface="Calibri"/>
              </a:rPr>
              <a:t>Why that matters:  </a:t>
            </a:r>
            <a:r>
              <a:rPr sz="1700">
                <a:solidFill>
                  <a:srgbClr val="141A42"/>
                </a:solidFill>
                <a:latin typeface="Calibri"/>
              </a:rPr>
              <a:t>it's real evidence the agent is reasoning over live data rather than following a script — but it also means a live disruption can't be relied on to reliably reproduce for a demo.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0092C7"/>
                </a:solidFill>
                <a:latin typeface="Calibri"/>
              </a:rPr>
              <a:t>The fix:  </a:t>
            </a:r>
            <a:r>
              <a:rPr sz="1700">
                <a:solidFill>
                  <a:srgbClr val="141A42"/>
                </a:solidFill>
                <a:latin typeface="Calibri"/>
              </a:rPr>
              <a:t>exactly the motivation for demo mode, on the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A42"/>
                </a:solidFill>
                <a:latin typeface="Calibri"/>
              </a:rPr>
              <a:t>New: Demo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Calibri"/>
              </a:rPr>
              <a:t>A dev panel (profile menu → Demo mode) that injects a synthetic disruption so a live demo doesn't depend on TfL actually having a bad 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mo_panel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136" y="1947671"/>
            <a:ext cx="2787128" cy="1965960"/>
          </a:xfrm>
          <a:prstGeom prst="roundRect">
            <a:avLst>
              <a:gd name="adj" fmla="val 4000"/>
            </a:avLst>
          </a:prstGeom>
          <a:ln w="9525">
            <a:solidFill>
              <a:srgbClr val="F2F2F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4980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Calibri"/>
              </a:rPr>
              <a:t>Preset picker, under the profile avatar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874519"/>
            <a:ext cx="5349240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_verdict_desk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8667" y="1947671"/>
            <a:ext cx="2756306" cy="1965960"/>
          </a:xfrm>
          <a:prstGeom prst="roundRect">
            <a:avLst>
              <a:gd name="adj" fmla="val 4000"/>
            </a:avLst>
          </a:prstGeom>
          <a:ln w="9525">
            <a:solidFill>
              <a:srgbClr val="F2F2F2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281928" y="3950207"/>
            <a:ext cx="512978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2514E"/>
                </a:solidFill>
                <a:latin typeface="Calibri"/>
              </a:rPr>
              <a:t>Resulting verdict: Central line, Severe Delays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10698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92C7"/>
                </a:solidFill>
                <a:latin typeface="Calibri"/>
              </a:rPr>
              <a:t>How it stays honest:  </a:t>
            </a:r>
            <a:r>
              <a:rPr sz="1500">
                <a:solidFill>
                  <a:srgbClr val="141A42"/>
                </a:solidFill>
                <a:latin typeface="Calibri"/>
              </a:rPr>
              <a:t>the fake status is only injected at the get_line_status / get_line_disruption_detail tools the agent calls — the model still reasons genuinely over it, it just isn't real TfL data.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92C7"/>
                </a:solidFill>
                <a:latin typeface="Calibri"/>
              </a:rPr>
              <a:t>Full-page consistency:  </a:t>
            </a:r>
            <a:r>
              <a:rPr sz="1500">
                <a:solidFill>
                  <a:srgbClr val="141A42"/>
                </a:solidFill>
                <a:latin typeface="Calibri"/>
              </a:rPr>
              <a:t>the departure board ticker and the itinerary's per-leg "Disrupted" tag are overridden too, so the whole page agrees with the verdict instead of the text alone claiming a delay nothing else shows.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A42"/>
                </a:solidFill>
                <a:latin typeface="Calibri"/>
              </a:rPr>
              <a:t>Under the hood: technical 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092C7"/>
                </a:solidFill>
                <a:latin typeface="Calibri"/>
              </a:rPr>
              <a:t>Warm subprocess pre-spawning:  </a:t>
            </a:r>
            <a:r>
              <a:rPr sz="1500">
                <a:solidFill>
                  <a:srgbClr val="141A42"/>
                </a:solidFill>
                <a:latin typeface="Calibri"/>
              </a:rPr>
              <a:t>one Claude Code subprocess is kept ready ahead of the next request, cutting the ~4s cold-spawn cost off most checks.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92C7"/>
                </a:solidFill>
                <a:latin typeface="Calibri"/>
              </a:rPr>
              <a:t>Schema-constrained model output:  </a:t>
            </a:r>
            <a:r>
              <a:rPr sz="1500">
                <a:solidFill>
                  <a:srgbClr val="141A42"/>
                </a:solidFill>
                <a:latin typeface="Calibri"/>
              </a:rPr>
              <a:t>the agent's final answer is forced through a JSON schema, so the server always gets a parseable verdict instead of occasionally-malformed prose.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92C7"/>
                </a:solidFill>
                <a:latin typeface="Calibri"/>
              </a:rPr>
              <a:t>Restricted tool surface:  </a:t>
            </a:r>
            <a:r>
              <a:rPr sz="1500">
                <a:solidFill>
                  <a:srgbClr val="141A42"/>
                </a:solidFill>
                <a:latin typeface="Calibri"/>
              </a:rPr>
              <a:t>the agent gets exactly 4 read-only TfL tools and nothing else — no built-in tools, no filesystem, no ~/.claude settings leaking into a server process.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92C7"/>
                </a:solidFill>
                <a:latin typeface="Calibri"/>
              </a:rPr>
              <a:t>Server-side cancel-in-flight:  </a:t>
            </a:r>
            <a:r>
              <a:rPr sz="1500">
                <a:solidFill>
                  <a:srgbClr val="141A42"/>
                </a:solidFill>
                <a:latin typeface="Calibri"/>
              </a:rPr>
              <a:t>starting a new check interrupts any still-running previous one on the server, not just hiding it in the browser.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092C7"/>
                </a:solidFill>
                <a:latin typeface="Calibri"/>
              </a:rPr>
              <a:t>Disruption timestamps:  </a:t>
            </a:r>
            <a:r>
              <a:rPr sz="1500">
                <a:solidFill>
                  <a:srgbClr val="141A42"/>
                </a:solidFill>
                <a:latin typeface="Calibri"/>
              </a:rPr>
              <a:t>get_line_disruption_detail now carries reportedAt / expectedEnd, so the model can say "unknown" instead of guessing how long an incident will last.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41A42"/>
                </a:solidFill>
                <a:latin typeface="Calibri"/>
              </a:rPr>
              <a:t>Tasks tackled &amp;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>
                <a:solidFill>
                  <a:srgbClr val="0092C7"/>
                </a:solidFill>
                <a:latin typeface="Calibri"/>
              </a:rPr>
              <a:t>Runtime constraint:  </a:t>
            </a:r>
            <a:r>
              <a:rPr sz="1700">
                <a:solidFill>
                  <a:srgbClr val="141A42"/>
                </a:solidFill>
                <a:latin typeface="Calibri"/>
              </a:rPr>
              <a:t>spec called for Cloudflare Workers, but the Claude Agent SDK spawns a subprocess — no spawning on Workers. Resolved by moving to a long-lived Bun process instead.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092C7"/>
                </a:solidFill>
                <a:latin typeface="Calibri"/>
              </a:rPr>
              <a:t>Model access:  </a:t>
            </a:r>
            <a:r>
              <a:rPr sz="1700">
                <a:solidFill>
                  <a:srgbClr val="141A42"/>
                </a:solidFill>
                <a:latin typeface="Calibri"/>
              </a:rPr>
              <a:t>verified which Bedrock routes were actually invokable (application inference profiles only, direct model IDs blocked by SCP) before writing the agent code, avoiding a dead end later.</a:t>
            </a:r>
          </a:p>
          <a:p>
            <a:pPr>
              <a:spcAft>
                <a:spcPts val="1400"/>
              </a:spcAft>
            </a:pPr>
            <a:r>
              <a:rPr sz="1700" b="1">
                <a:solidFill>
                  <a:srgbClr val="0092C7"/>
                </a:solidFill>
                <a:latin typeface="Calibri"/>
              </a:rPr>
              <a:t>Live-vs-usual routing logic:  </a:t>
            </a:r>
            <a:r>
              <a:rPr sz="1700">
                <a:solidFill>
                  <a:srgbClr val="141A42"/>
                </a:solidFill>
                <a:latin typeface="Calibri"/>
              </a:rPr>
              <a:t>today's live journey is matched to the normal-day baseline by line/mode sequence, not by guesswork, so "your route" is provably the same route.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41A42"/>
                </a:solidFill>
                <a:latin typeface="Calibri"/>
              </a:rPr>
              <a:t>Further improvements &amp;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/>
              <a:buChar char="•"/>
              <a:spcAft>
                <a:spcPts val="1400"/>
              </a:spcAft>
            </a:pPr>
            <a:r>
              <a:rPr sz="1800">
                <a:solidFill>
                  <a:srgbClr val="141A42"/>
                </a:solidFill>
                <a:latin typeface="Calibri"/>
              </a:rPr>
              <a:t>Combined line pills — multiple lines on one leg render as a single grouped chip instead of repeating.</a:t>
            </a:r>
          </a:p>
          <a:p>
            <a:pPr marL="342900" indent="-342900">
              <a:buFont typeface="Arial"/>
              <a:buChar char="•"/>
              <a:spcAft>
                <a:spcPts val="1400"/>
              </a:spcAft>
            </a:pPr>
            <a:r>
              <a:rPr sz="1800">
                <a:solidFill>
                  <a:srgbClr val="141A42"/>
                </a:solidFill>
                <a:latin typeface="Calibri"/>
              </a:rPr>
              <a:t>Saved-station badge cleanup — home/work chips simplified from dashed placeholder slots to compact pill buttons.</a:t>
            </a:r>
          </a:p>
          <a:p>
            <a:pPr marL="342900" indent="-342900">
              <a:buFont typeface="Arial"/>
              <a:buChar char="•"/>
              <a:spcAft>
                <a:spcPts val="1400"/>
              </a:spcAft>
            </a:pPr>
            <a:r>
              <a:rPr sz="1800">
                <a:solidFill>
                  <a:srgbClr val="141A42"/>
                </a:solidFill>
                <a:latin typeface="Calibri"/>
              </a:rPr>
              <a:t>Dark-mode logo + theme toggle, and a live confidence gauge on the verdict card.</a:t>
            </a:r>
          </a:p>
          <a:p>
            <a:pPr marL="342900" indent="-342900">
              <a:buFont typeface="Arial"/>
              <a:buChar char="•"/>
              <a:spcAft>
                <a:spcPts val="1400"/>
              </a:spcAft>
            </a:pPr>
            <a:r>
              <a:rPr sz="1800">
                <a:solidFill>
                  <a:srgbClr val="141A42"/>
                </a:solidFill>
                <a:latin typeface="Calibri"/>
              </a:rPr>
              <a:t>nCino branding + user identity in the header for the internal-facing build.</a:t>
            </a:r>
          </a:p>
        </p:txBody>
      </p:sp>
      <p:sp>
        <p:nvSpPr>
          <p:cNvPr id="30" name="NextUp Card"/>
          <p:cNvSpPr/>
          <p:nvPr/>
        </p:nvSpPr>
        <p:spPr>
          <a:xfrm>
            <a:off x="731520" y="5850000"/>
            <a:ext cx="10515600" cy="55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 algn="l"/>
          </a:p>
        </p:txBody>
      </p:sp>
      <p:sp>
        <p:nvSpPr>
          <p:cNvPr id="31" name="NextUp Text"/>
          <p:cNvSpPr txBox="1"/>
          <p:nvPr/>
        </p:nvSpPr>
        <p:spPr>
          <a:xfrm>
            <a:off x="1005840" y="5850000"/>
            <a:ext cx="9966960" cy="5500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0092C7"/>
                </a:solidFill>
                <a:latin typeface="Calibri"/>
              </a:rPr>
              <a:t>Next up:  </a:t>
            </a:r>
            <a:r>
              <a:rPr sz="1400" b="0">
                <a:solidFill>
                  <a:srgbClr val="141A42"/>
                </a:solidFill>
                <a:latin typeface="Calibri"/>
              </a:rPr>
              <a:t>persistent usage logging (this deck's chart had to be reconstructed from session transcripts — worth writing straight to disk).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